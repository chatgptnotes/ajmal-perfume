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up during introductions. SILK stands for Scent Intelligence &amp; Luxury Kinetics. Let the tagline 'From Billing to Brilliance' sit. Don't explain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'78% legacy billing' stat land. 'Retailers with real-time analytics grow 2.3x faster' creates urgency.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'we see you' slide. Frame as industry-wide, NOT Ajmal-specific. The anonymous quote should feel eerily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 and dashboards are the mandatory foundation. AI layers cannot work without clean operational data. 'You cannot run AI on bad data' is unassailable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'Most POS systems were designed as cash registers that happen to be digital. Ours was designed as a data capture engine that happens to do billing.'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'CEO checks Sunday sales from Dubai on Monday morning' casually. The 'zero manual data entry' line directly addresses their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WOW slide. The cross-sell from EDP to bakhoor/attar is where real margin uplift happens. No other retail tech platform has a fragrance-specific recommendation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'Fragrance has brutal seasonality — each region peaks differently. SILK learns YOUR patterns.' Computer vision: '15 minutes — complete auditable inventory. No barcode scanning.'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'100+ stores and growing = constant hiring. Every new hire is a revenue risk until trained. AI training compresses that window.'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'Traditional retail training is broken. SILK Academy makes every phone a training center.' Gamification drives daily engagement. Associates who complete learning paths sell 22%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'In fragrance, replenishment is predictable. 50ml EDP lasts 2-3 months.' 97% of customers are on WhatsApp. This automates the right message, right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'If Nykaa price &lt; store price, you train customers to buy online.' Markdown optimization alone typically pays for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'Any vendor can say AI-powered. We show exactly which models power which capabilities.' InsightAI: 'CEO in Dubai types: What were my top 10 stores this Eid vs last Eid? — instant answer.'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 operational savings alone — POS and dashboards — typically pay for the platform within 4-6 months. Everything else is upside.'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'We always start with the foundation — POS and dashboards — because they generate the data for everything else.' Pilot: 'See results at 10-15 stores before committing.'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 retail chains that modernize this year will define the next decade.' End with: '10-15 stores, 8 weeks, let the results speak.' Leave contact info on screen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BC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54C28"/>
                </a:solidFill>
                <a:latin typeface="Calibri"/>
              </a:defRPr>
            </a:pPr>
            <a:r>
              <a:t>SILK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C8B57"/>
                </a:solidFill>
                <a:latin typeface="Calibri"/>
              </a:defRPr>
            </a:pPr>
            <a:r>
              <a:t>Scent Intelligence &amp; Luxury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BC8B57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B2826"/>
                </a:solidFill>
                <a:latin typeface="Calibri"/>
              </a:defRPr>
            </a:pPr>
            <a:r>
              <a:t>Retail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B2826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27272"/>
                </a:solidFill>
                <a:latin typeface="Calibri"/>
              </a:defRPr>
            </a:pPr>
            <a:r>
              <a:t>Built for India's Premium Retail Chains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2743200" cy="36576"/>
          </a:xfrm>
          <a:prstGeom prst="roundRect">
            <a:avLst/>
          </a:prstGeom>
          <a:solidFill>
            <a:srgbClr val="BC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A4A4"/>
                </a:solidFill>
                <a:latin typeface="Calibri"/>
              </a:defRPr>
            </a:pPr>
            <a:r>
              <a:t>FROM BILLING TO BRILLIANCE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7E6040"/>
                </a:solidFill>
                <a:latin typeface="Calibri"/>
              </a:defRPr>
            </a:pPr>
            <a:r>
              <a:t>Prepared for Ajmal Perfumes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INDUSTRY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India's Organized Retail Is at an Inflection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18288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E4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C8B57"/>
                </a:solidFill>
                <a:latin typeface="Calibri"/>
              </a:defRPr>
            </a:pPr>
            <a:r>
              <a:t>$28B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27272"/>
                </a:solidFill>
                <a:latin typeface="Calibri"/>
              </a:defRPr>
            </a:pPr>
            <a:r>
              <a:t>India Beauty &amp; Personal Care</a:t>
            </a:r>
            <a:br/>
            <a:r>
              <a:t>Market by 2028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2011680"/>
            <a:ext cx="2560320" cy="18288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E4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C8B57"/>
                </a:solidFill>
                <a:latin typeface="Calibri"/>
              </a:defRPr>
            </a:pPr>
            <a:r>
              <a:t>18-22%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9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27272"/>
                </a:solidFill>
                <a:latin typeface="Calibri"/>
              </a:defRPr>
            </a:pPr>
            <a:r>
              <a:t>Premium Fragrance</a:t>
            </a:r>
            <a:br/>
            <a:r>
              <a:t>CAGR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011680"/>
            <a:ext cx="2560320" cy="18288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E4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C8B57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27272"/>
                </a:solidFill>
                <a:latin typeface="Calibri"/>
              </a:defRPr>
            </a:pPr>
            <a:r>
              <a:t>Retail Chains Still on</a:t>
            </a:r>
            <a:br/>
            <a:r>
              <a:t>Legacy Billing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011680"/>
            <a:ext cx="2560320" cy="18288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E4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C8B57"/>
                </a:solidFill>
                <a:latin typeface="Calibri"/>
              </a:defRPr>
            </a:pPr>
            <a:r>
              <a:t>2.3x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27272"/>
                </a:solidFill>
                <a:latin typeface="Calibri"/>
              </a:defRPr>
            </a:pPr>
            <a:r>
              <a:t>Faster Growth for Chains</a:t>
            </a:r>
            <a:br/>
            <a:r>
              <a:t>with Real-Time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27272"/>
                </a:solidFill>
                <a:latin typeface="Calibri"/>
              </a:defRPr>
            </a:pPr>
            <a:r>
              <a:t>The industry is growing fast — but most retail infrastructure was built for a different era. The winners will be the chains that close the gap between brand ambition and operational backbone.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4040"/>
                </a:solidFill>
                <a:latin typeface="Calibri"/>
              </a:defRPr>
            </a:pPr>
            <a:r>
              <a:t>THE PATTERN WE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What We Hear From Every Growing Retail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256032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009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40F"/>
                </a:solidFill>
                <a:latin typeface="Calibri"/>
              </a:defRPr>
            </a:pPr>
            <a:r>
              <a:t>The Brand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Beautiful stores, strong heritage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443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Loyal customer base, growing footprint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2841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Premium positioning, expanding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1246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Multi-channel presence (retail, e-commerce, shop-in-shop)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256032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E4040"/>
                </a:solidFill>
                <a:latin typeface="Calibri"/>
              </a:defRPr>
            </a:pPr>
            <a:r>
              <a:t>The Operations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4040"/>
                </a:solidFill>
                <a:latin typeface="Calibri"/>
              </a:defRPr>
            </a:pPr>
            <a:r>
              <a:t>  Manual billing slowing down peak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443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4040"/>
                </a:solidFill>
                <a:latin typeface="Calibri"/>
              </a:defRPr>
            </a:pPr>
            <a:r>
              <a:t>  No real-time visibility across 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28415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4040"/>
                </a:solidFill>
                <a:latin typeface="Calibri"/>
              </a:defRPr>
            </a:pPr>
            <a:r>
              <a:t>  HQ decisions based on yesterday's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12463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4040"/>
                </a:solidFill>
                <a:latin typeface="Calibri"/>
              </a:defRPr>
            </a:pPr>
            <a:r>
              <a:t>  Staff performance invisible until quarterly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9651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4040"/>
                </a:solidFill>
                <a:latin typeface="Calibri"/>
              </a:defRPr>
            </a:pPr>
            <a:r>
              <a:t>  Franchise and owned stores on different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698480" cy="914400"/>
          </a:xfrm>
          <a:prstGeom prst="roundRect">
            <a:avLst/>
          </a:prstGeom>
          <a:solidFill>
            <a:srgbClr val="F0E6DB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27272"/>
                </a:solidFill>
                <a:latin typeface="Calibri"/>
              </a:defRPr>
            </a:pPr>
            <a:r>
              <a:t>"We have 100+ stores but our HQ team spends Monday mornings calling store managers for weekend numbers."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4A4"/>
                </a:solidFill>
                <a:latin typeface="Calibri"/>
              </a:defRPr>
            </a:pPr>
            <a:r>
              <a:t>— Operations Head, Premium Retail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One Platform. Every Store. Every Insight.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0E6DB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C8B57"/>
                </a:solidFill>
                <a:latin typeface="Calibri"/>
              </a:defRPr>
            </a:pPr>
            <a:r>
              <a:t>EXPERIENCE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377440" cy="457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4C28"/>
                </a:solidFill>
                <a:latin typeface="Calibri"/>
              </a:defRPr>
            </a:pPr>
            <a:r>
              <a:t>AI Fragrance Advisor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468880"/>
            <a:ext cx="2377440" cy="457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4C28"/>
                </a:solidFill>
                <a:latin typeface="Calibri"/>
              </a:defRPr>
            </a:pPr>
            <a:r>
              <a:t>WhatsApp CRM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2377440" cy="457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4C28"/>
                </a:solidFill>
                <a:latin typeface="Calibri"/>
              </a:defRPr>
            </a:pPr>
            <a:r>
              <a:t>Dynamic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468880"/>
            <a:ext cx="2377440" cy="457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4C28"/>
                </a:solidFill>
                <a:latin typeface="Calibri"/>
              </a:defRPr>
            </a:pPr>
            <a:r>
              <a:t>L&amp;D Academy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10698480" cy="1188720"/>
          </a:xfrm>
          <a:prstGeom prst="roundRect">
            <a:avLst/>
          </a:prstGeom>
          <a:solidFill>
            <a:srgbClr val="F0E6DB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E6040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2377440" cy="457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4C28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840480"/>
            <a:ext cx="2377440" cy="457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4C28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2377440" cy="457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4C28"/>
                </a:solidFill>
                <a:latin typeface="Calibri"/>
              </a:defRPr>
            </a:pPr>
            <a:r>
              <a:t>Inventory Intelligence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3840480"/>
            <a:ext cx="2377440" cy="457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4C28"/>
                </a:solidFill>
                <a:latin typeface="Calibri"/>
              </a:defRPr>
            </a:pPr>
            <a:r>
              <a:t>Staff Performance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10698480" cy="118872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54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54C28"/>
                </a:solidFill>
                <a:latin typeface="Calibri"/>
              </a:defRPr>
            </a:pPr>
            <a:r>
              <a:t>FOUNDATION LAYER — START HERE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212080"/>
            <a:ext cx="4572000" cy="457200"/>
          </a:xfrm>
          <a:prstGeom prst="roundRect">
            <a:avLst/>
          </a:prstGeom>
          <a:solidFill>
            <a:srgbClr val="BC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Smart POS &amp; Store 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5212080"/>
            <a:ext cx="4572000" cy="457200"/>
          </a:xfrm>
          <a:prstGeom prst="roundRect">
            <a:avLst/>
          </a:prstGeom>
          <a:solidFill>
            <a:srgbClr val="BC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Real-Time Command Center &amp;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27272"/>
                </a:solidFill>
                <a:latin typeface="Calibri"/>
              </a:defRPr>
            </a:pPr>
            <a:r>
              <a:t>The foundation powers the intelligence. The intelligence powers the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54C28"/>
                </a:solidFill>
                <a:latin typeface="Calibri"/>
              </a:defRPr>
            </a:pPr>
            <a:r>
              <a:t>FOUNDATION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Smart POS — The Nerve Center of Every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One-tap billing with auto product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Auto-applied promotions — no manual discount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Offline-first — works without internet, syncs when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723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Franchise + company-owned on one unified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Multi-format: full store, kiosk, shop-in-shop counter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Integrated payments: UPI, card, wallet — auto-reconciled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GST-ready invoicing with instant digital 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920240"/>
            <a:ext cx="4572000" cy="32004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B57"/>
                </a:solidFill>
                <a:latin typeface="Calibri"/>
              </a:defRPr>
            </a:pPr>
            <a:r>
              <a:t>What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4A4A4"/>
                </a:solidFill>
                <a:latin typeface="Calibri"/>
              </a:defRPr>
            </a:pPr>
            <a:r>
              <a:t>4-5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45 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880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4A4"/>
                </a:solidFill>
                <a:latin typeface="Calibri"/>
              </a:defRPr>
            </a:pPr>
            <a:r>
              <a:t>Billing time per 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4A4A4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5204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4A4"/>
                </a:solidFill>
                <a:latin typeface="Calibri"/>
              </a:defRPr>
            </a:pPr>
            <a:r>
              <a:t>Promo &amp; discount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4A4A4"/>
                </a:solidFill>
                <a:latin typeface="Calibri"/>
              </a:defRPr>
            </a:pPr>
            <a:r>
              <a:t>90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31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4A4"/>
                </a:solidFill>
                <a:latin typeface="Calibri"/>
              </a:defRPr>
            </a:pPr>
            <a:r>
              <a:t>End-of-day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4A4A4"/>
                </a:solidFill>
                <a:latin typeface="Calibri"/>
              </a:defRPr>
            </a:pPr>
            <a:r>
              <a:t>Next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572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800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4A4"/>
                </a:solidFill>
                <a:latin typeface="Calibri"/>
              </a:defRPr>
            </a:pPr>
            <a:r>
              <a:t>Data available to HQ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4A4A4"/>
                </a:solidFill>
                <a:latin typeface="Calibri"/>
              </a:defRPr>
            </a:pPr>
            <a:r>
              <a:t>Every transaction becomes a data point. Every data point powers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54C28"/>
                </a:solidFill>
                <a:latin typeface="Calibri"/>
              </a:defRPr>
            </a:pPr>
            <a:r>
              <a:t>FOUNDATION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Command Center — See Everything. Right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2743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LIVE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Store-by-store sales — today, this week, vs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529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Staff performance heatmap by store &amp;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36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Top-selling SKUs by city, format, season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21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Franchise vs. company-owned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05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Alert flags: below target, stock-out, high returns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27432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Zero manual data entry — feeds directly from 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Role-based views: store mgr, area head, HQ,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Mobile-first: CEO checks Sunday sales from Dubai</a:t>
            </a:r>
            <a:br/>
            <a:r>
              <a:t>     on Monday morning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Auto-reports: daily, weekly, monthly — no spreadsheets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Franchise owner portal with controlled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698480" cy="822960"/>
          </a:xfrm>
          <a:prstGeom prst="roundRect">
            <a:avLst/>
          </a:prstGeom>
          <a:solidFill>
            <a:srgbClr val="F0E6DB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27272"/>
                </a:solidFill>
                <a:latin typeface="Calibri"/>
              </a:defRPr>
            </a:pPr>
            <a:r>
              <a:t>The #1 complaint from HQ teams: "I cannot get accurate store data without calling someone." SILK eliminates that — entirely.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AI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B2826"/>
                </a:solidFill>
                <a:latin typeface="Calibri"/>
              </a:defRPr>
            </a:pPr>
            <a:r>
              <a:t>AI Fragrance Advisor — Turn Every Associate Into an Expert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920240"/>
            <a:ext cx="548640" cy="54864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B5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920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Customer shares</a:t>
            </a:r>
            <a:br/>
            <a:r>
              <a:t>preferences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920240"/>
            <a:ext cx="548640" cy="54864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54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54C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920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AI matches fragrance</a:t>
            </a:r>
            <a:br/>
            <a:r>
              <a:t>knowledge 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920240"/>
            <a:ext cx="548640" cy="54864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E604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920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3-4 recommendations</a:t>
            </a:r>
            <a:br/>
            <a:r>
              <a:t>with talking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Matches by occasion, intensity, budget, note 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01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Learns from purchase history: 'Customers who bought X love Y'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941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Cross-sell: attar buyer → suggest matching bakhoor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782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Handles full range: Rs 375 body mist to Rs 7,500+ luxury 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622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Works on store tablet or associate's 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926080"/>
            <a:ext cx="3657600" cy="18288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200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BC8B57"/>
                </a:solidFill>
                <a:latin typeface="Calibri"/>
              </a:defRPr>
            </a:pPr>
            <a:r>
              <a:t>22-35%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27272"/>
                </a:solidFill>
                <a:latin typeface="Calibri"/>
              </a:defRPr>
            </a:pPr>
            <a:r>
              <a:t>Increase in average</a:t>
            </a:r>
            <a:br/>
            <a:r>
              <a:t>basket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B2826"/>
                </a:solidFill>
                <a:latin typeface="Calibri"/>
              </a:defRPr>
            </a:pPr>
            <a:r>
              <a:t>Your best salesperson has 10 years of fragrance knowledge. SILK gives a new hire 80% of that on day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AI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Know What Will Sell, Where, Before It Happens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2926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AI predicts SKU-level demand by store, by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Factors: Eid, Diwali, wedding season, weather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Regional intelligence — South ≠ North ≠ Metro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Oud demand spikes 4-6 wks before Eid;</a:t>
            </a:r>
            <a:br/>
            <a:r>
              <a:t>     system flags at 8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206240"/>
            <a:ext cx="2286000" cy="54864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C8B57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7272"/>
                </a:solidFill>
                <a:latin typeface="Calibri"/>
              </a:defRPr>
            </a:pPr>
            <a:r>
              <a:t>Stockout reduction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212080" cy="2926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INVENTORY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Computer vision: phone camera scans shelf,</a:t>
            </a:r>
            <a:br/>
            <a:r>
              <a:t>     counts units, flags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Auto-replenishment triggers to warehouse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Dead stock alerts: 'This SKU hasn't moved</a:t>
            </a:r>
            <a:br/>
            <a:r>
              <a:t>     in 60 days at 14 stores'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Franchise stock visibility — every shelf, every store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206240"/>
            <a:ext cx="2286000" cy="54864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C8B57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7272"/>
                </a:solidFill>
                <a:latin typeface="Calibri"/>
              </a:defRPr>
            </a:pPr>
            <a:r>
              <a:t>Overstock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AI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Your People Are Your Stores. Now You Can See.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32004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PERFORMANCE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Individual scorecards: sales/hour, conversion,</a:t>
            </a:r>
            <a:br/>
            <a:r>
              <a:t>     basket size, upsell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Store manager scorecards: team performance,</a:t>
            </a:r>
            <a:br/>
            <a:r>
              <a:t>     target attainment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AI coaching: 'Ravi at Store 47 — high conversion</a:t>
            </a:r>
            <a:br/>
            <a:r>
              <a:t>     but low basket. Coach on upselling.'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Gamification: leaderboards, streaks, benchmarking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Area-level: staffing issues vs location 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32004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AI-POWERED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Replaces travel-heavy trainer model entirely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71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Interactive modules: product knowledge,</a:t>
            </a:r>
            <a:br/>
            <a:r>
              <a:t>     POS operation, selling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AI tests if associate can recommend correctly</a:t>
            </a:r>
            <a:br/>
            <a:r>
              <a:t>     before they face a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776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Fragrance family quizzes, note profiles,</a:t>
            </a:r>
            <a:br/>
            <a:r>
              <a:t>     customer 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89120"/>
            <a:ext cx="3200400" cy="640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C8B57"/>
                </a:solidFill>
                <a:latin typeface="Calibri"/>
              </a:defRPr>
            </a:pPr>
            <a:r>
              <a:t>3 weeks → 5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7272"/>
                </a:solidFill>
                <a:latin typeface="Calibri"/>
              </a:defRPr>
            </a:pPr>
            <a:r>
              <a:t>New hire ramp-up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4A4A4"/>
                </a:solidFill>
                <a:latin typeface="Calibri"/>
              </a:defRPr>
            </a:pPr>
            <a:r>
              <a:t>Dashboards are not surveillance — they make your best performers visible and your struggling performers get help earlier.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AI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B2826"/>
                </a:solidFill>
                <a:latin typeface="Calibri"/>
              </a:defRPr>
            </a:pPr>
            <a:r>
              <a:t>SILK Academy — Where Your Team Levels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32004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Micro-learning: bite-sized modules on product</a:t>
            </a:r>
            <a:br/>
            <a:r>
              <a:t>     knowledge, selling, and brand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1635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Role-based paths: new hire, store manager,</a:t>
            </a:r>
            <a:br/>
            <a:r>
              <a:t>     franchise partner, area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5526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AI-personalized: curriculum adapts to each</a:t>
            </a:r>
            <a:br/>
            <a:r>
              <a:t>     associate's performance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9417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Fragrance masterclasses: oud families, note</a:t>
            </a:r>
            <a:br/>
            <a:r>
              <a:t>     profiles, occasion pairing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33087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Multi-language: Hindi, English, regional —</a:t>
            </a:r>
            <a:br/>
            <a:r>
              <a:t>     learn in the language you think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Mobile-first: learn on the shop floor</a:t>
            </a:r>
            <a:br/>
            <a:r>
              <a:t>     between 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32004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GAMIFICATION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XP points for modules, quizzes, daily</a:t>
            </a:r>
            <a:br/>
            <a:r>
              <a:t>     challenges, and real sales 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1635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Leaderboards: store-level, region-level,</a:t>
            </a:r>
            <a:br/>
            <a:r>
              <a:t>     and national rankings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5526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Badges &amp; certifications: 'Oud Expert',</a:t>
            </a:r>
            <a:br/>
            <a:r>
              <a:t>     'Top Seller', 'Customer Champion'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9417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Streak rewards: 7-day learning streaks</a:t>
            </a:r>
            <a:br/>
            <a:r>
              <a:t>     unlock perks and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3308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Team battles: store vs. store competitions</a:t>
            </a:r>
            <a:br/>
            <a:r>
              <a:t>     tied to real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7200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Manager view: track team progress, identify</a:t>
            </a:r>
            <a:br/>
            <a:r>
              <a:t>     coaching opportunities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3383280" cy="640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C8B57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27272"/>
                </a:solidFill>
                <a:latin typeface="Calibri"/>
              </a:defRPr>
            </a:pPr>
            <a:r>
              <a:t>Course completion rate vs</a:t>
            </a:r>
            <a:br/>
            <a:r>
              <a:t>traditional training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5394960"/>
            <a:ext cx="3383280" cy="640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5394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C8B57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5715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27272"/>
                </a:solidFill>
                <a:latin typeface="Calibri"/>
              </a:defRPr>
            </a:pPr>
            <a:r>
              <a:t>Knowledge retention</a:t>
            </a:r>
            <a:br/>
            <a:r>
              <a:t>improvement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394960"/>
            <a:ext cx="3383280" cy="640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5394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C8B57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715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27272"/>
                </a:solidFill>
                <a:latin typeface="Calibri"/>
              </a:defRPr>
            </a:pPr>
            <a:r>
              <a:t>Daily active engagement</a:t>
            </a:r>
            <a:br/>
            <a:r>
              <a:t>with gamification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AI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Know Your Customer. Reach Them. Keep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2926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Unified profiles: retail, Shoppers Stop, Nykaa,</a:t>
            </a:r>
            <a:br/>
            <a:r>
              <a:t>     Amazon, airports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5292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Segments: first-time, repeat, lapsed (90+ days),</a:t>
            </a:r>
            <a:br/>
            <a:r>
              <a:t>     high-value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28416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'Buys new EDP every 3 months — trigger</a:t>
            </a:r>
            <a:br/>
            <a:r>
              <a:t>     reminder at 2.5 months'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03904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LTV prediction: 'These 2,000 customers =</a:t>
            </a:r>
            <a:br/>
            <a:r>
              <a:t>     40% of next year's revenue'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7939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Churn alerts: '142 high-value customers</a:t>
            </a:r>
            <a:br/>
            <a:r>
              <a:t>     silent for 60+ days'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2926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WHATSAPP CRM &amp; CLIENTELING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Auto messages: order confirm, restock</a:t>
            </a:r>
            <a:br/>
            <a:r>
              <a:t>     reminders, birthday offers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Campaigns: 'Send Eid collection preview to</a:t>
            </a:r>
            <a:br/>
            <a:r>
              <a:t>     all oud buyers from last Eid'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2841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Clienteling: top 20 customers with prefs</a:t>
            </a:r>
            <a:br/>
            <a:r>
              <a:t>     &amp; next-buy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03904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  Two-way chat: questions, repeat orders</a:t>
            </a:r>
            <a:br/>
            <a:r>
              <a:t>     via WhatsApp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212080" cy="1005840"/>
          </a:xfrm>
          <a:prstGeom prst="roundRect">
            <a:avLst/>
          </a:prstGeom>
          <a:solidFill>
            <a:srgbClr val="F0E6DB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4A4"/>
                </a:solidFill>
                <a:latin typeface="Calibri"/>
              </a:defRPr>
            </a:pPr>
            <a:r>
              <a:t>Customer buys 50ml EDP on Jan 15. On Mar 25: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2826"/>
                </a:solidFill>
                <a:latin typeface="Calibri"/>
              </a:defRPr>
            </a:pPr>
            <a:r>
              <a:t>"Hi Priya, running low on Wisal? Reorder now + explore our spring collection. Reply YES to order."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AI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The Right Price. The Right Store. The Right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256032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INTELLIGENT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AI-recommended adjustments based on demand,</a:t>
            </a:r>
            <a:br/>
            <a:r>
              <a:t>     stock levels,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7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Markdown: '15% off moves volume; 30% destroys</a:t>
            </a:r>
            <a:br/>
            <a:r>
              <a:t>     margin — AI finds the sweet spot'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Festive: 'Eid gift sets — last year 20% off moved</a:t>
            </a:r>
            <a:br/>
            <a:r>
              <a:t>     3x volume, test 15% this year'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256032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CHANNEL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Channel harmonization: retail = Nykaa = Amazon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7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Franchise pricing governance: floors &amp; ceilings</a:t>
            </a:r>
            <a:br/>
            <a:r>
              <a:t>     with controlled flexibility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27272"/>
                </a:solidFill>
                <a:latin typeface="Calibri"/>
              </a:defRPr>
            </a:pPr>
            <a:r>
              <a:t>  Alert on marketplace price drift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5029200" cy="9144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C8B57"/>
                </a:solidFill>
                <a:latin typeface="Calibri"/>
              </a:defRPr>
            </a:pPr>
            <a:r>
              <a:t>3-8%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27272"/>
                </a:solidFill>
                <a:latin typeface="Calibri"/>
              </a:defRPr>
            </a:pPr>
            <a:r>
              <a:t>Margin improvement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846320"/>
            <a:ext cx="5212080" cy="91440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892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C8B57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349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27272"/>
                </a:solidFill>
                <a:latin typeface="Calibri"/>
              </a:defRPr>
            </a:pPr>
            <a:r>
              <a:t>Channel price conflicts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B2826"/>
                </a:solidFill>
                <a:latin typeface="Calibri"/>
              </a:defRPr>
            </a:pPr>
            <a:r>
              <a:t>9 AI Engines. One Platform. Compounding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B57"/>
                </a:solidFill>
                <a:latin typeface="Calibri"/>
              </a:defRPr>
            </a:pPr>
            <a:r>
              <a:t>FragranceAI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Personalized scent recommendations from purchase + preference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92024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54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54C28"/>
                </a:solidFill>
                <a:latin typeface="Calibri"/>
              </a:defRPr>
            </a:pPr>
            <a:r>
              <a:t>DemandAI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Predictive demand forecasting with cultural event awareness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92024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E6040"/>
                </a:solidFill>
                <a:latin typeface="Calibri"/>
              </a:defRPr>
            </a:pPr>
            <a:r>
              <a:t>VisionAI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Computer vision inventory counting &amp; shelf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B57"/>
                </a:solidFill>
                <a:latin typeface="Calibri"/>
              </a:defRPr>
            </a:pPr>
            <a:r>
              <a:t>PricingAI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Dynamic pricing optimization across channels &amp; store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92608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54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54C28"/>
                </a:solidFill>
                <a:latin typeface="Calibri"/>
              </a:defRPr>
            </a:pPr>
            <a:r>
              <a:t>PeopleAI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Staff performance scoring, coaching triggers &amp; scheduling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92608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E6040"/>
                </a:solidFill>
                <a:latin typeface="Calibri"/>
              </a:defRPr>
            </a:pPr>
            <a:r>
              <a:t>AcademyAI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Gamified L&amp;D with adaptive learning paths &amp; certifications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B57"/>
                </a:solidFill>
                <a:latin typeface="Calibri"/>
              </a:defRPr>
            </a:pPr>
            <a:r>
              <a:t>CustomerAI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Segmentation, lifetime value prediction &amp; churn prevention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93192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54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54C28"/>
                </a:solidFill>
                <a:latin typeface="Calibri"/>
              </a:defRPr>
            </a:pPr>
            <a:r>
              <a:t>ConversationAI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WhatsApp automation, chatbot &amp; clienteling prompts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931920"/>
            <a:ext cx="3474720" cy="8229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E6040"/>
                </a:solidFill>
                <a:latin typeface="Calibri"/>
              </a:defRPr>
            </a:pPr>
            <a:r>
              <a:t>InsightAI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7272"/>
                </a:solidFill>
                <a:latin typeface="Calibri"/>
              </a:defRPr>
            </a:pPr>
            <a:r>
              <a:t>'What were my top 5 stores this Eid?' — instant answers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27272"/>
                </a:solidFill>
                <a:latin typeface="Calibri"/>
              </a:defRPr>
            </a:pPr>
            <a:r>
              <a:t>Each AI engine gets smarter over time. And they feed each other — DemandAI uses PricingAI data, FragranceAI uses CustomerAI profiles, InsightAI sits on top of everything.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What the Numbers Look Like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2926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OPERATIONAL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15-20 hrs/store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Monthly billing time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30+ hrs/month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07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HQ manual dashboard work eliminated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46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70%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467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Inventory counting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856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3 wks → 5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856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New hire training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24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B57"/>
                </a:solidFill>
                <a:latin typeface="Calibri"/>
              </a:defRPr>
            </a:pPr>
            <a:r>
              <a:t>Near-zero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Promo / pricing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5212080" cy="29260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REVENUE UPLIFT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B57"/>
                </a:solidFill>
                <a:latin typeface="Calibri"/>
              </a:defRPr>
            </a:pPr>
            <a:r>
              <a:t>22-35%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Basket size increase (AI recs)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44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B57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944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Stockout reduction = captured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19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B57"/>
                </a:solidFill>
                <a:latin typeface="Calibri"/>
              </a:defRPr>
            </a:pPr>
            <a:r>
              <a:t>15-20%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419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Repeat purchase improvement (WhatsApp)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95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B57"/>
                </a:solidFill>
                <a:latin typeface="Calibri"/>
              </a:defRPr>
            </a:pPr>
            <a:r>
              <a:t>3-8%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895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Margin improvement (dynamic pricing)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BC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For a 100-store retail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Rs 8-12 Cr Annual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Within 18 months of full deployment  |  Platform payback: 4-6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B2826"/>
                </a:solidFill>
                <a:latin typeface="Calibri"/>
              </a:defRPr>
            </a:pPr>
            <a:r>
              <a:t>Value in 8 Weeks. Full Platform in 6 Months.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972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54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54C28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057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826"/>
                </a:solidFill>
                <a:latin typeface="Calibri"/>
              </a:defRPr>
            </a:pPr>
            <a:r>
              <a:t>Foundation — Smart POS +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BC8B57"/>
                </a:solidFill>
                <a:latin typeface="Calibri"/>
              </a:defRPr>
            </a:pPr>
            <a:r>
              <a:t>Weeks 1-8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Deploy across 10-15 pilot stores. HQ dashboards live. Staff trained. Parallel running with existing systems — zero disruption.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10972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C8B57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37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826"/>
                </a:solidFill>
                <a:latin typeface="Calibri"/>
              </a:defRPr>
            </a:pPr>
            <a:r>
              <a:t>Intelligence — Forecasting, Inventory AI, Staff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BC8B57"/>
                </a:solidFill>
                <a:latin typeface="Calibri"/>
              </a:defRPr>
            </a:pPr>
            <a:r>
              <a:t>Weeks 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Activate demand forecasting and inventory intelligence. Staff performance AI, SILK Academy, and training modules go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09728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E6040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826"/>
                </a:solidFill>
                <a:latin typeface="Calibri"/>
              </a:defRPr>
            </a:pPr>
            <a:r>
              <a:t>Experience — FragranceAI, WhatsApp CRM, Dynamic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BC8B57"/>
                </a:solidFill>
                <a:latin typeface="Calibri"/>
              </a:defRPr>
            </a:pPr>
            <a:r>
              <a:t>Weeks 17-24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Full AI suite deployed. WhatsApp CRM live. Dynamic pricing activated. Rollout across all stores.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52160"/>
            <a:ext cx="3383280" cy="73152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E4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826"/>
                </a:solidFill>
                <a:latin typeface="Calibri"/>
              </a:defRPr>
            </a:pPr>
            <a:r>
              <a:t>Dedicated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72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7272"/>
                </a:solidFill>
                <a:latin typeface="Calibri"/>
              </a:defRPr>
            </a:pPr>
            <a:r>
              <a:t>Not a self-serve setup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5852160"/>
            <a:ext cx="3383280" cy="73152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E4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5897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826"/>
                </a:solidFill>
                <a:latin typeface="Calibri"/>
              </a:defRPr>
            </a:pPr>
            <a:r>
              <a:t>Parallel Running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6172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7272"/>
                </a:solidFill>
                <a:latin typeface="Calibri"/>
              </a:defRPr>
            </a:pPr>
            <a:r>
              <a:t>Zero disruption to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852160"/>
            <a:ext cx="3383280" cy="73152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E4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897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826"/>
                </a:solidFill>
                <a:latin typeface="Calibri"/>
              </a:defRPr>
            </a:pPr>
            <a:r>
              <a:t>Franchise Playbook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172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7272"/>
                </a:solidFill>
                <a:latin typeface="Calibri"/>
              </a:defRPr>
            </a:pPr>
            <a:r>
              <a:t>Onboarding guide included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B57"/>
                </a:solidFill>
                <a:latin typeface="Calibri"/>
              </a:defRPr>
            </a:pPr>
            <a:r>
              <a:t>WHY SILK,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2826"/>
                </a:solidFill>
                <a:latin typeface="Calibri"/>
              </a:defRPr>
            </a:pPr>
            <a:r>
              <a:t>Built for This Moment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303520" cy="12801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B57"/>
                </a:solidFill>
                <a:latin typeface="Calibri"/>
              </a:defRPr>
            </a:pPr>
            <a:r>
              <a:t>Retail-Native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Built exclusively for retail. Not horizontal SaaS adapted — retail-native, retail-only. We understand the floor.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303520" cy="12801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54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54C28"/>
                </a:solidFill>
                <a:latin typeface="Calibri"/>
              </a:defRPr>
            </a:pPr>
            <a:r>
              <a:t>India-First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23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GST complexity, UPI payments, Hindi &amp; regional language support, offline-first architecture, WhatsApp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303520" cy="12801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7E6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6040"/>
                </a:solidFill>
                <a:latin typeface="Calibri"/>
              </a:defRPr>
            </a:pPr>
            <a:r>
              <a:t>AI-Native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AI is not a feature we bolted on. It is the architecture. Every module generates data, every data point trains the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303520" cy="128016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BC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B57"/>
                </a:solidFill>
                <a:latin typeface="Calibri"/>
              </a:defRPr>
            </a:pPr>
            <a:r>
              <a:t>Scale-Ready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886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7272"/>
                </a:solidFill>
                <a:latin typeface="Calibri"/>
              </a:defRPr>
            </a:pPr>
            <a:r>
              <a:t>Designed for 100+ store chains. Multi-format, multi-channel, franchise-ready. Scales from pilot to national.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029200"/>
            <a:ext cx="7589520" cy="1463040"/>
          </a:xfrm>
          <a:prstGeom prst="roundRect">
            <a:avLst/>
          </a:prstGeom>
          <a:solidFill>
            <a:srgbClr val="BC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51206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Let's Start With a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577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10-15 stores  ·  8 weeks  ·  Let the results speak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60350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SILK  |  silkai.in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