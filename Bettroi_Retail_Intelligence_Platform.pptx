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up during introductions. Let the tagline 'From Billing to Brilliance' sit — it plants the POS-to-AI journey in their mind from the start. Don't explain it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'78% legacy billing' stat land. Don't point at anyone — let them self-identify. 'Retailers with real-time analytics grow 2.3x faster' creates urgency. The audience should be thinking: 'Are we in the 78% or the 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 see you' slide. Frame as industry-wide, NOT Ajmal-specific. 'We hear some version of this in every initial conversation.' The anonymous quote should feel eerily familiar. The franchise/owned distinction is deliberate — they run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architectural slide. POS and dashboards are the mandatory foundation — not because we're pushing them, but because AI layers cannot work without clean operational data. 'You cannot run AI on bad data' is unassailable logic. The golden border on the foundation draws the eye naturally.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POS systems were designed as cash registers that happen to be digital. Ours was designed as a data capture engine that happens to do billing.' Offline-first matters for India — mall WiFi drops during peak hours. Franchise standardization is built in — HQ gets one clean data feed, not 50 Excel formats.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'CEO checks Sunday sales from Dubai on Monday morning' casually — as if this is a common scenario for distributed retail chains. The 'zero manual data entry' line directly addresses their pain, framed as universal. The franchise owner portal shows you understand hybrid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WOW slide. 'Fragrance is one of the hardest categories — nose fatigue after 3-4 tries. AI narrows the field.' The cross-sell from EDP to bakhoor/attar is where real margin uplift happens. No other retail tech platform has a fragrance-specific recommendation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'Fragrance has brutal seasonality — each region peaks differently. The AI learns YOUR patterns.' Computer vision: 'Walk the store with your phone. 15 minutes — complete auditable inventory. No barcode scanning, no manual entry.' For franchise stores, inventory is usually a black box — this opens it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stores and growing = constant hiring. Every new hire is a revenue risk until trained. AI training compresses that window.' Performance dashboards feed the Command Center — area managers see staffing vs. location issues instantly. AI training eliminates the need for trainers to travel to every new store.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retail training is broken — send a trainer to 100 stores, or fly staff to HQ. Neither scales. Bettroi Academy makes every phone a training center.' Gamification is not gimmicks — it drives daily engagement. Staff who complete learning paths sell 22% more. The leaderboards create healthy competition — top performers get visibility, struggling staff get support. Certifications like 'Oud Expert' give associates pride and customers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fragrance, replenishment is predictable. 50ml EDP lasts 2-3 months.' Mention all channels naturally — retail, Shoppers Stop, Nykaa, Amazon, airports. '97% of customers are on WhatsApp. Manual WhatsApp CRM is chaos. This automates the right message, right customer, right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Nykaa price &lt; store price, you train customers to buy online. If franchise ≠ company-owned, brand confusion.' This gets the CFO's attention. Reinforces the need for clean POS data. Markdown optimization alone typically pays for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vendor can say AI-powered. We show exactly which models power which capabilities.' InsightAI example: 'Imagine your CEO in Dubai typing: What were my top 10 stores this Eid vs last Eid? — instant answer with chart. No analyst needed.' This is the second 'Dubai' reference — keep it casual.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operational savings alone — POS and dashboards — typically pay for the platform within 4-6 months. Everything else is upside.' The '100-store chain' language is generic — let them do the math. Estimate is conservative — doesn't account for peak season stockout recovery.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always start with the foundation — POS and dashboards — because they generate the data for everything else.' Pilot: 'See results at 10-15 stores before committing. We earn the expansion.' Phase 1 focus is architecturally justified: 'You cannot run AI on bad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retail chains that modernize this year will define the next decade.' 'We're not asking you to be a guinea pig. We're asking you to be a leader.' End with: '10-15 stores, 8 weeks, let the results speak.' Leave contact info on screen during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548640"/>
            <a:ext cx="3657600" cy="457200"/>
          </a:xfrm>
          <a:prstGeom prst="rect">
            <a:avLst/>
          </a:prstGeom>
          <a:noFill/>
        </p:spPr>
        <p:txBody>
          <a:bodyPr wrap="square">
            <a:spAutoFit/>
          </a:bodyPr>
          <a:lstStyle/>
          <a:p>
            <a:pPr algn="l">
              <a:defRPr sz="2800" b="1">
                <a:solidFill>
                  <a:srgbClr val="FFFFFF"/>
                </a:solidFill>
                <a:latin typeface="Calibri"/>
              </a:defRPr>
            </a:pPr>
            <a:r>
              <a:t>BETTROI</a:t>
            </a:r>
          </a:p>
        </p:txBody>
      </p:sp>
      <p:sp>
        <p:nvSpPr>
          <p:cNvPr id="3" name="TextBox 2"/>
          <p:cNvSpPr txBox="1"/>
          <p:nvPr/>
        </p:nvSpPr>
        <p:spPr>
          <a:xfrm>
            <a:off x="2926080" y="640080"/>
            <a:ext cx="1828800" cy="365760"/>
          </a:xfrm>
          <a:prstGeom prst="rect">
            <a:avLst/>
          </a:prstGeom>
          <a:noFill/>
        </p:spPr>
        <p:txBody>
          <a:bodyPr wrap="square">
            <a:spAutoFit/>
          </a:bodyPr>
          <a:lstStyle/>
          <a:p>
            <a:pPr algn="l">
              <a:defRPr sz="1200" b="0">
                <a:solidFill>
                  <a:srgbClr val="555577"/>
                </a:solidFill>
                <a:latin typeface="Calibri"/>
              </a:defRPr>
            </a:pPr>
            <a:r>
              <a:t>est. 2024</a:t>
            </a:r>
          </a:p>
        </p:txBody>
      </p:sp>
      <p:sp>
        <p:nvSpPr>
          <p:cNvPr id="4" name="TextBox 3"/>
          <p:cNvSpPr txBox="1"/>
          <p:nvPr/>
        </p:nvSpPr>
        <p:spPr>
          <a:xfrm>
            <a:off x="731520" y="1645920"/>
            <a:ext cx="9144000" cy="1097280"/>
          </a:xfrm>
          <a:prstGeom prst="rect">
            <a:avLst/>
          </a:prstGeom>
          <a:noFill/>
        </p:spPr>
        <p:txBody>
          <a:bodyPr wrap="square">
            <a:spAutoFit/>
          </a:bodyPr>
          <a:lstStyle/>
          <a:p>
            <a:pPr algn="l">
              <a:defRPr sz="5200" b="1">
                <a:solidFill>
                  <a:srgbClr val="6C63FF"/>
                </a:solidFill>
                <a:latin typeface="Calibri"/>
              </a:defRPr>
            </a:pPr>
            <a:r>
              <a:t>AI-Powered</a:t>
            </a:r>
          </a:p>
        </p:txBody>
      </p:sp>
      <p:sp>
        <p:nvSpPr>
          <p:cNvPr id="5" name="TextBox 4"/>
          <p:cNvSpPr txBox="1"/>
          <p:nvPr/>
        </p:nvSpPr>
        <p:spPr>
          <a:xfrm>
            <a:off x="731520" y="2560320"/>
            <a:ext cx="9144000" cy="1097280"/>
          </a:xfrm>
          <a:prstGeom prst="rect">
            <a:avLst/>
          </a:prstGeom>
          <a:noFill/>
        </p:spPr>
        <p:txBody>
          <a:bodyPr wrap="square">
            <a:spAutoFit/>
          </a:bodyPr>
          <a:lstStyle/>
          <a:p>
            <a:pPr algn="l">
              <a:defRPr sz="5200" b="1">
                <a:solidFill>
                  <a:srgbClr val="FFFFFF"/>
                </a:solidFill>
                <a:latin typeface="Calibri"/>
              </a:defRPr>
            </a:pPr>
            <a:r>
              <a:t>Retail Intelligence</a:t>
            </a:r>
          </a:p>
        </p:txBody>
      </p:sp>
      <p:sp>
        <p:nvSpPr>
          <p:cNvPr id="6" name="TextBox 5"/>
          <p:cNvSpPr txBox="1"/>
          <p:nvPr/>
        </p:nvSpPr>
        <p:spPr>
          <a:xfrm>
            <a:off x="731520" y="3474720"/>
            <a:ext cx="9144000" cy="1097280"/>
          </a:xfrm>
          <a:prstGeom prst="rect">
            <a:avLst/>
          </a:prstGeom>
          <a:noFill/>
        </p:spPr>
        <p:txBody>
          <a:bodyPr wrap="square">
            <a:spAutoFit/>
          </a:bodyPr>
          <a:lstStyle/>
          <a:p>
            <a:pPr algn="l">
              <a:defRPr sz="5200" b="1">
                <a:solidFill>
                  <a:srgbClr val="FFFFFF"/>
                </a:solidFill>
                <a:latin typeface="Calibri"/>
              </a:defRPr>
            </a:pPr>
            <a:r>
              <a:t>Platform</a:t>
            </a:r>
          </a:p>
        </p:txBody>
      </p:sp>
      <p:sp>
        <p:nvSpPr>
          <p:cNvPr id="7" name="TextBox 6"/>
          <p:cNvSpPr txBox="1"/>
          <p:nvPr/>
        </p:nvSpPr>
        <p:spPr>
          <a:xfrm>
            <a:off x="731520" y="4754880"/>
            <a:ext cx="7315200" cy="457200"/>
          </a:xfrm>
          <a:prstGeom prst="rect">
            <a:avLst/>
          </a:prstGeom>
          <a:noFill/>
        </p:spPr>
        <p:txBody>
          <a:bodyPr wrap="square">
            <a:spAutoFit/>
          </a:bodyPr>
          <a:lstStyle/>
          <a:p>
            <a:pPr algn="l">
              <a:defRPr sz="2200" b="0">
                <a:solidFill>
                  <a:srgbClr val="8888AA"/>
                </a:solidFill>
                <a:latin typeface="Calibri"/>
              </a:defRPr>
            </a:pPr>
            <a:r>
              <a:t>Built for India's Premium Retail Chains</a:t>
            </a:r>
          </a:p>
        </p:txBody>
      </p:sp>
      <p:sp>
        <p:nvSpPr>
          <p:cNvPr id="8" name="TextBox 7"/>
          <p:cNvSpPr txBox="1"/>
          <p:nvPr/>
        </p:nvSpPr>
        <p:spPr>
          <a:xfrm>
            <a:off x="731520" y="5852160"/>
            <a:ext cx="4572000" cy="365760"/>
          </a:xfrm>
          <a:prstGeom prst="rect">
            <a:avLst/>
          </a:prstGeom>
          <a:noFill/>
        </p:spPr>
        <p:txBody>
          <a:bodyPr wrap="square">
            <a:spAutoFit/>
          </a:bodyPr>
          <a:lstStyle/>
          <a:p>
            <a:pPr algn="l">
              <a:defRPr sz="1100" b="1">
                <a:solidFill>
                  <a:srgbClr val="555577"/>
                </a:solidFill>
                <a:latin typeface="Calibri"/>
              </a:defRPr>
            </a:pPr>
            <a:r>
              <a:t>FROM BILLING TO BRILLIANCE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INDUSTRY LANDSCAPE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India's Organized Retail Is at an Inflection Point</a:t>
            </a:r>
          </a:p>
        </p:txBody>
      </p:sp>
      <p:sp>
        <p:nvSpPr>
          <p:cNvPr id="4" name="Rounded Rectangle 3"/>
          <p:cNvSpPr/>
          <p:nvPr/>
        </p:nvSpPr>
        <p:spPr>
          <a:xfrm>
            <a:off x="731520" y="2011680"/>
            <a:ext cx="2560320" cy="18288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94560"/>
            <a:ext cx="2560320" cy="731520"/>
          </a:xfrm>
          <a:prstGeom prst="rect">
            <a:avLst/>
          </a:prstGeom>
          <a:noFill/>
        </p:spPr>
        <p:txBody>
          <a:bodyPr wrap="square">
            <a:spAutoFit/>
          </a:bodyPr>
          <a:lstStyle/>
          <a:p>
            <a:pPr algn="ctr">
              <a:defRPr sz="4000" b="1">
                <a:solidFill>
                  <a:srgbClr val="00D4AA"/>
                </a:solidFill>
                <a:latin typeface="Calibri"/>
              </a:defRPr>
            </a:pPr>
            <a:r>
              <a:t>$28B</a:t>
            </a:r>
          </a:p>
        </p:txBody>
      </p:sp>
      <p:sp>
        <p:nvSpPr>
          <p:cNvPr id="6" name="TextBox 5"/>
          <p:cNvSpPr txBox="1"/>
          <p:nvPr/>
        </p:nvSpPr>
        <p:spPr>
          <a:xfrm>
            <a:off x="868680" y="3108960"/>
            <a:ext cx="2286000" cy="731520"/>
          </a:xfrm>
          <a:prstGeom prst="rect">
            <a:avLst/>
          </a:prstGeom>
          <a:noFill/>
        </p:spPr>
        <p:txBody>
          <a:bodyPr wrap="square">
            <a:spAutoFit/>
          </a:bodyPr>
          <a:lstStyle/>
          <a:p>
            <a:pPr algn="ctr">
              <a:defRPr sz="1200" b="0">
                <a:solidFill>
                  <a:srgbClr val="8888AA"/>
                </a:solidFill>
                <a:latin typeface="Calibri"/>
              </a:defRPr>
            </a:pPr>
            <a:r>
              <a:t>India Beauty &amp; Personal Care</a:t>
            </a:r>
            <a:br/>
            <a:r>
              <a:t>Market by 2028</a:t>
            </a:r>
          </a:p>
        </p:txBody>
      </p:sp>
      <p:sp>
        <p:nvSpPr>
          <p:cNvPr id="7" name="Rounded Rectangle 6"/>
          <p:cNvSpPr/>
          <p:nvPr/>
        </p:nvSpPr>
        <p:spPr>
          <a:xfrm>
            <a:off x="3520439" y="2011680"/>
            <a:ext cx="2560320" cy="18288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39" y="2194560"/>
            <a:ext cx="2560320" cy="731520"/>
          </a:xfrm>
          <a:prstGeom prst="rect">
            <a:avLst/>
          </a:prstGeom>
          <a:noFill/>
        </p:spPr>
        <p:txBody>
          <a:bodyPr wrap="square">
            <a:spAutoFit/>
          </a:bodyPr>
          <a:lstStyle/>
          <a:p>
            <a:pPr algn="ctr">
              <a:defRPr sz="4000" b="1">
                <a:solidFill>
                  <a:srgbClr val="00D4AA"/>
                </a:solidFill>
                <a:latin typeface="Calibri"/>
              </a:defRPr>
            </a:pPr>
            <a:r>
              <a:t>18-22%</a:t>
            </a:r>
          </a:p>
        </p:txBody>
      </p:sp>
      <p:sp>
        <p:nvSpPr>
          <p:cNvPr id="9" name="TextBox 8"/>
          <p:cNvSpPr txBox="1"/>
          <p:nvPr/>
        </p:nvSpPr>
        <p:spPr>
          <a:xfrm>
            <a:off x="3657599" y="3108960"/>
            <a:ext cx="2286000" cy="731520"/>
          </a:xfrm>
          <a:prstGeom prst="rect">
            <a:avLst/>
          </a:prstGeom>
          <a:noFill/>
        </p:spPr>
        <p:txBody>
          <a:bodyPr wrap="square">
            <a:spAutoFit/>
          </a:bodyPr>
          <a:lstStyle/>
          <a:p>
            <a:pPr algn="ctr">
              <a:defRPr sz="1200" b="0">
                <a:solidFill>
                  <a:srgbClr val="8888AA"/>
                </a:solidFill>
                <a:latin typeface="Calibri"/>
              </a:defRPr>
            </a:pPr>
            <a:r>
              <a:t>Premium Fragrance</a:t>
            </a:r>
            <a:br/>
            <a:r>
              <a:t>CAGR</a:t>
            </a:r>
          </a:p>
        </p:txBody>
      </p:sp>
      <p:sp>
        <p:nvSpPr>
          <p:cNvPr id="10" name="Rounded Rectangle 9"/>
          <p:cNvSpPr/>
          <p:nvPr/>
        </p:nvSpPr>
        <p:spPr>
          <a:xfrm>
            <a:off x="6309359" y="2011680"/>
            <a:ext cx="2560320" cy="18288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2194560"/>
            <a:ext cx="2560320" cy="731520"/>
          </a:xfrm>
          <a:prstGeom prst="rect">
            <a:avLst/>
          </a:prstGeom>
          <a:noFill/>
        </p:spPr>
        <p:txBody>
          <a:bodyPr wrap="square">
            <a:spAutoFit/>
          </a:bodyPr>
          <a:lstStyle/>
          <a:p>
            <a:pPr algn="ctr">
              <a:defRPr sz="4000" b="1">
                <a:solidFill>
                  <a:srgbClr val="00D4AA"/>
                </a:solidFill>
                <a:latin typeface="Calibri"/>
              </a:defRPr>
            </a:pPr>
            <a:r>
              <a:t>78%</a:t>
            </a:r>
          </a:p>
        </p:txBody>
      </p:sp>
      <p:sp>
        <p:nvSpPr>
          <p:cNvPr id="12" name="TextBox 11"/>
          <p:cNvSpPr txBox="1"/>
          <p:nvPr/>
        </p:nvSpPr>
        <p:spPr>
          <a:xfrm>
            <a:off x="6446520" y="3108960"/>
            <a:ext cx="2286000" cy="731520"/>
          </a:xfrm>
          <a:prstGeom prst="rect">
            <a:avLst/>
          </a:prstGeom>
          <a:noFill/>
        </p:spPr>
        <p:txBody>
          <a:bodyPr wrap="square">
            <a:spAutoFit/>
          </a:bodyPr>
          <a:lstStyle/>
          <a:p>
            <a:pPr algn="ctr">
              <a:defRPr sz="1200" b="0">
                <a:solidFill>
                  <a:srgbClr val="8888AA"/>
                </a:solidFill>
                <a:latin typeface="Calibri"/>
              </a:defRPr>
            </a:pPr>
            <a:r>
              <a:t>Retail Chains Still on</a:t>
            </a:r>
            <a:br/>
            <a:r>
              <a:t>Legacy Billing Systems</a:t>
            </a:r>
          </a:p>
        </p:txBody>
      </p:sp>
      <p:sp>
        <p:nvSpPr>
          <p:cNvPr id="13" name="Rounded Rectangle 12"/>
          <p:cNvSpPr/>
          <p:nvPr/>
        </p:nvSpPr>
        <p:spPr>
          <a:xfrm>
            <a:off x="9098280" y="2011680"/>
            <a:ext cx="2560320" cy="18288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194560"/>
            <a:ext cx="2560320" cy="731520"/>
          </a:xfrm>
          <a:prstGeom prst="rect">
            <a:avLst/>
          </a:prstGeom>
          <a:noFill/>
        </p:spPr>
        <p:txBody>
          <a:bodyPr wrap="square">
            <a:spAutoFit/>
          </a:bodyPr>
          <a:lstStyle/>
          <a:p>
            <a:pPr algn="ctr">
              <a:defRPr sz="4000" b="1">
                <a:solidFill>
                  <a:srgbClr val="00D4AA"/>
                </a:solidFill>
                <a:latin typeface="Calibri"/>
              </a:defRPr>
            </a:pPr>
            <a:r>
              <a:t>2.3x</a:t>
            </a:r>
          </a:p>
        </p:txBody>
      </p:sp>
      <p:sp>
        <p:nvSpPr>
          <p:cNvPr id="15" name="TextBox 14"/>
          <p:cNvSpPr txBox="1"/>
          <p:nvPr/>
        </p:nvSpPr>
        <p:spPr>
          <a:xfrm>
            <a:off x="9235440" y="3108960"/>
            <a:ext cx="2286000" cy="731520"/>
          </a:xfrm>
          <a:prstGeom prst="rect">
            <a:avLst/>
          </a:prstGeom>
          <a:noFill/>
        </p:spPr>
        <p:txBody>
          <a:bodyPr wrap="square">
            <a:spAutoFit/>
          </a:bodyPr>
          <a:lstStyle/>
          <a:p>
            <a:pPr algn="ctr">
              <a:defRPr sz="1200" b="0">
                <a:solidFill>
                  <a:srgbClr val="8888AA"/>
                </a:solidFill>
                <a:latin typeface="Calibri"/>
              </a:defRPr>
            </a:pPr>
            <a:r>
              <a:t>Faster Growth for Chains</a:t>
            </a:r>
            <a:br/>
            <a:r>
              <a:t>with Real-Time Analytics</a:t>
            </a:r>
          </a:p>
        </p:txBody>
      </p:sp>
      <p:sp>
        <p:nvSpPr>
          <p:cNvPr id="16" name="TextBox 15"/>
          <p:cNvSpPr txBox="1"/>
          <p:nvPr/>
        </p:nvSpPr>
        <p:spPr>
          <a:xfrm>
            <a:off x="731520" y="4389120"/>
            <a:ext cx="10058400" cy="914400"/>
          </a:xfrm>
          <a:prstGeom prst="rect">
            <a:avLst/>
          </a:prstGeom>
          <a:noFill/>
        </p:spPr>
        <p:txBody>
          <a:bodyPr wrap="square">
            <a:spAutoFit/>
          </a:bodyPr>
          <a:lstStyle/>
          <a:p>
            <a:pPr algn="l">
              <a:defRPr sz="1600" b="0">
                <a:solidFill>
                  <a:srgbClr val="8888AA"/>
                </a:solidFill>
                <a:latin typeface="Calibri"/>
              </a:defRPr>
            </a:pPr>
            <a:r>
              <a:t>The industry is growing fast — but most retail infrastructure was built for a different era. The winners will be the chains that close the gap between brand ambition and operational backbone.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FF6B6B"/>
                </a:solidFill>
                <a:latin typeface="Calibri"/>
              </a:defRPr>
            </a:pPr>
            <a:r>
              <a:t>THE PATTERN WE SEE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What We Hear From Every Growing Retail Chain</a:t>
            </a:r>
          </a:p>
        </p:txBody>
      </p:sp>
      <p:sp>
        <p:nvSpPr>
          <p:cNvPr id="4" name="Rounded Rectangle 3"/>
          <p:cNvSpPr/>
          <p:nvPr/>
        </p:nvSpPr>
        <p:spPr>
          <a:xfrm>
            <a:off x="731520" y="2011680"/>
            <a:ext cx="5029200" cy="2560320"/>
          </a:xfrm>
          <a:prstGeom prst="roundRect">
            <a:avLst/>
          </a:prstGeom>
          <a:solidFill>
            <a:srgbClr val="161622"/>
          </a:solidFill>
          <a:ln w="19050">
            <a:solidFill>
              <a:srgbClr val="2244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572000" cy="365760"/>
          </a:xfrm>
          <a:prstGeom prst="rect">
            <a:avLst/>
          </a:prstGeom>
          <a:noFill/>
        </p:spPr>
        <p:txBody>
          <a:bodyPr wrap="square">
            <a:spAutoFit/>
          </a:bodyPr>
          <a:lstStyle/>
          <a:p>
            <a:pPr algn="l">
              <a:defRPr sz="1600" b="1">
                <a:solidFill>
                  <a:srgbClr val="00D4AA"/>
                </a:solidFill>
                <a:latin typeface="Calibri"/>
              </a:defRPr>
            </a:pPr>
            <a:r>
              <a:t>The Brand Side  ✓</a:t>
            </a:r>
          </a:p>
        </p:txBody>
      </p:sp>
      <p:sp>
        <p:nvSpPr>
          <p:cNvPr id="6" name="TextBox 5"/>
          <p:cNvSpPr txBox="1"/>
          <p:nvPr/>
        </p:nvSpPr>
        <p:spPr>
          <a:xfrm>
            <a:off x="914400" y="2560320"/>
            <a:ext cx="4572000" cy="365760"/>
          </a:xfrm>
          <a:prstGeom prst="rect">
            <a:avLst/>
          </a:prstGeom>
          <a:noFill/>
        </p:spPr>
        <p:txBody>
          <a:bodyPr wrap="square">
            <a:spAutoFit/>
          </a:bodyPr>
          <a:lstStyle/>
          <a:p>
            <a:pPr algn="l">
              <a:defRPr sz="1300" b="0">
                <a:solidFill>
                  <a:srgbClr val="8888AA"/>
                </a:solidFill>
                <a:latin typeface="Calibri"/>
              </a:defRPr>
            </a:pPr>
            <a:r>
              <a:t>→  Beautiful stores, strong heritage</a:t>
            </a:r>
          </a:p>
        </p:txBody>
      </p:sp>
      <p:sp>
        <p:nvSpPr>
          <p:cNvPr id="7" name="TextBox 6"/>
          <p:cNvSpPr txBox="1"/>
          <p:nvPr/>
        </p:nvSpPr>
        <p:spPr>
          <a:xfrm>
            <a:off x="914400" y="2944368"/>
            <a:ext cx="4572000" cy="365760"/>
          </a:xfrm>
          <a:prstGeom prst="rect">
            <a:avLst/>
          </a:prstGeom>
          <a:noFill/>
        </p:spPr>
        <p:txBody>
          <a:bodyPr wrap="square">
            <a:spAutoFit/>
          </a:bodyPr>
          <a:lstStyle/>
          <a:p>
            <a:pPr algn="l">
              <a:defRPr sz="1300" b="0">
                <a:solidFill>
                  <a:srgbClr val="8888AA"/>
                </a:solidFill>
                <a:latin typeface="Calibri"/>
              </a:defRPr>
            </a:pPr>
            <a:r>
              <a:t>→  Loyal customer base, growing footprint</a:t>
            </a:r>
          </a:p>
        </p:txBody>
      </p:sp>
      <p:sp>
        <p:nvSpPr>
          <p:cNvPr id="8" name="TextBox 7"/>
          <p:cNvSpPr txBox="1"/>
          <p:nvPr/>
        </p:nvSpPr>
        <p:spPr>
          <a:xfrm>
            <a:off x="914400" y="3328415"/>
            <a:ext cx="4572000" cy="365760"/>
          </a:xfrm>
          <a:prstGeom prst="rect">
            <a:avLst/>
          </a:prstGeom>
          <a:noFill/>
        </p:spPr>
        <p:txBody>
          <a:bodyPr wrap="square">
            <a:spAutoFit/>
          </a:bodyPr>
          <a:lstStyle/>
          <a:p>
            <a:pPr algn="l">
              <a:defRPr sz="1300" b="0">
                <a:solidFill>
                  <a:srgbClr val="8888AA"/>
                </a:solidFill>
                <a:latin typeface="Calibri"/>
              </a:defRPr>
            </a:pPr>
            <a:r>
              <a:t>→  Premium positioning, expanding portfolio</a:t>
            </a:r>
          </a:p>
        </p:txBody>
      </p:sp>
      <p:sp>
        <p:nvSpPr>
          <p:cNvPr id="9" name="TextBox 8"/>
          <p:cNvSpPr txBox="1"/>
          <p:nvPr/>
        </p:nvSpPr>
        <p:spPr>
          <a:xfrm>
            <a:off x="914400" y="3712463"/>
            <a:ext cx="4572000" cy="365760"/>
          </a:xfrm>
          <a:prstGeom prst="rect">
            <a:avLst/>
          </a:prstGeom>
          <a:noFill/>
        </p:spPr>
        <p:txBody>
          <a:bodyPr wrap="square">
            <a:spAutoFit/>
          </a:bodyPr>
          <a:lstStyle/>
          <a:p>
            <a:pPr algn="l">
              <a:defRPr sz="1300" b="0">
                <a:solidFill>
                  <a:srgbClr val="8888AA"/>
                </a:solidFill>
                <a:latin typeface="Calibri"/>
              </a:defRPr>
            </a:pPr>
            <a:r>
              <a:t>→  Multi-channel presence (retail, e-commerce, shop-in-shop)</a:t>
            </a:r>
          </a:p>
        </p:txBody>
      </p:sp>
      <p:sp>
        <p:nvSpPr>
          <p:cNvPr id="10" name="Rounded Rectangle 9"/>
          <p:cNvSpPr/>
          <p:nvPr/>
        </p:nvSpPr>
        <p:spPr>
          <a:xfrm>
            <a:off x="6217920" y="2011680"/>
            <a:ext cx="5212080" cy="2560320"/>
          </a:xfrm>
          <a:prstGeom prst="roundRect">
            <a:avLst/>
          </a:prstGeom>
          <a:solidFill>
            <a:srgbClr val="161622"/>
          </a:solidFill>
          <a:ln w="19050">
            <a:solidFill>
              <a:srgbClr val="44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03120"/>
            <a:ext cx="4572000" cy="365760"/>
          </a:xfrm>
          <a:prstGeom prst="rect">
            <a:avLst/>
          </a:prstGeom>
          <a:noFill/>
        </p:spPr>
        <p:txBody>
          <a:bodyPr wrap="square">
            <a:spAutoFit/>
          </a:bodyPr>
          <a:lstStyle/>
          <a:p>
            <a:pPr algn="l">
              <a:defRPr sz="1600" b="1">
                <a:solidFill>
                  <a:srgbClr val="FF6B6B"/>
                </a:solidFill>
                <a:latin typeface="Calibri"/>
              </a:defRPr>
            </a:pPr>
            <a:r>
              <a:t>The Operations Side  ⚠</a:t>
            </a:r>
          </a:p>
        </p:txBody>
      </p:sp>
      <p:sp>
        <p:nvSpPr>
          <p:cNvPr id="12" name="TextBox 11"/>
          <p:cNvSpPr txBox="1"/>
          <p:nvPr/>
        </p:nvSpPr>
        <p:spPr>
          <a:xfrm>
            <a:off x="6400800" y="2560320"/>
            <a:ext cx="4846320" cy="365760"/>
          </a:xfrm>
          <a:prstGeom prst="rect">
            <a:avLst/>
          </a:prstGeom>
          <a:noFill/>
        </p:spPr>
        <p:txBody>
          <a:bodyPr wrap="square">
            <a:spAutoFit/>
          </a:bodyPr>
          <a:lstStyle/>
          <a:p>
            <a:pPr algn="l">
              <a:defRPr sz="1300" b="0">
                <a:solidFill>
                  <a:srgbClr val="FF6B6B"/>
                </a:solidFill>
                <a:latin typeface="Calibri"/>
              </a:defRPr>
            </a:pPr>
            <a:r>
              <a:t>→  Manual billing slowing down peak hours</a:t>
            </a:r>
          </a:p>
        </p:txBody>
      </p:sp>
      <p:sp>
        <p:nvSpPr>
          <p:cNvPr id="13" name="TextBox 12"/>
          <p:cNvSpPr txBox="1"/>
          <p:nvPr/>
        </p:nvSpPr>
        <p:spPr>
          <a:xfrm>
            <a:off x="6400800" y="2944368"/>
            <a:ext cx="4846320" cy="365760"/>
          </a:xfrm>
          <a:prstGeom prst="rect">
            <a:avLst/>
          </a:prstGeom>
          <a:noFill/>
        </p:spPr>
        <p:txBody>
          <a:bodyPr wrap="square">
            <a:spAutoFit/>
          </a:bodyPr>
          <a:lstStyle/>
          <a:p>
            <a:pPr algn="l">
              <a:defRPr sz="1300" b="0">
                <a:solidFill>
                  <a:srgbClr val="FF6B6B"/>
                </a:solidFill>
                <a:latin typeface="Calibri"/>
              </a:defRPr>
            </a:pPr>
            <a:r>
              <a:t>→  No real-time visibility across stores</a:t>
            </a:r>
          </a:p>
        </p:txBody>
      </p:sp>
      <p:sp>
        <p:nvSpPr>
          <p:cNvPr id="14" name="TextBox 13"/>
          <p:cNvSpPr txBox="1"/>
          <p:nvPr/>
        </p:nvSpPr>
        <p:spPr>
          <a:xfrm>
            <a:off x="6400800" y="3328415"/>
            <a:ext cx="4846320" cy="365760"/>
          </a:xfrm>
          <a:prstGeom prst="rect">
            <a:avLst/>
          </a:prstGeom>
          <a:noFill/>
        </p:spPr>
        <p:txBody>
          <a:bodyPr wrap="square">
            <a:spAutoFit/>
          </a:bodyPr>
          <a:lstStyle/>
          <a:p>
            <a:pPr algn="l">
              <a:defRPr sz="1300" b="0">
                <a:solidFill>
                  <a:srgbClr val="FF6B6B"/>
                </a:solidFill>
                <a:latin typeface="Calibri"/>
              </a:defRPr>
            </a:pPr>
            <a:r>
              <a:t>→  HQ decisions based on yesterday's data</a:t>
            </a:r>
          </a:p>
        </p:txBody>
      </p:sp>
      <p:sp>
        <p:nvSpPr>
          <p:cNvPr id="15" name="TextBox 14"/>
          <p:cNvSpPr txBox="1"/>
          <p:nvPr/>
        </p:nvSpPr>
        <p:spPr>
          <a:xfrm>
            <a:off x="6400800" y="3712463"/>
            <a:ext cx="4846320" cy="365760"/>
          </a:xfrm>
          <a:prstGeom prst="rect">
            <a:avLst/>
          </a:prstGeom>
          <a:noFill/>
        </p:spPr>
        <p:txBody>
          <a:bodyPr wrap="square">
            <a:spAutoFit/>
          </a:bodyPr>
          <a:lstStyle/>
          <a:p>
            <a:pPr algn="l">
              <a:defRPr sz="1300" b="0">
                <a:solidFill>
                  <a:srgbClr val="FF6B6B"/>
                </a:solidFill>
                <a:latin typeface="Calibri"/>
              </a:defRPr>
            </a:pPr>
            <a:r>
              <a:t>→  Staff performance invisible until quarterly reviews</a:t>
            </a:r>
          </a:p>
        </p:txBody>
      </p:sp>
      <p:sp>
        <p:nvSpPr>
          <p:cNvPr id="16" name="TextBox 15"/>
          <p:cNvSpPr txBox="1"/>
          <p:nvPr/>
        </p:nvSpPr>
        <p:spPr>
          <a:xfrm>
            <a:off x="6400800" y="4096511"/>
            <a:ext cx="4846320" cy="365760"/>
          </a:xfrm>
          <a:prstGeom prst="rect">
            <a:avLst/>
          </a:prstGeom>
          <a:noFill/>
        </p:spPr>
        <p:txBody>
          <a:bodyPr wrap="square">
            <a:spAutoFit/>
          </a:bodyPr>
          <a:lstStyle/>
          <a:p>
            <a:pPr algn="l">
              <a:defRPr sz="1300" b="0">
                <a:solidFill>
                  <a:srgbClr val="FF6B6B"/>
                </a:solidFill>
                <a:latin typeface="Calibri"/>
              </a:defRPr>
            </a:pPr>
            <a:r>
              <a:t>→  Franchise and owned stores on different systems</a:t>
            </a:r>
          </a:p>
        </p:txBody>
      </p:sp>
      <p:sp>
        <p:nvSpPr>
          <p:cNvPr id="17" name="Rounded Rectangle 16"/>
          <p:cNvSpPr/>
          <p:nvPr/>
        </p:nvSpPr>
        <p:spPr>
          <a:xfrm>
            <a:off x="731520" y="4846320"/>
            <a:ext cx="10698480" cy="914400"/>
          </a:xfrm>
          <a:prstGeom prst="roundRect">
            <a:avLst/>
          </a:prstGeom>
          <a:solidFill>
            <a:srgbClr val="121220"/>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937760"/>
            <a:ext cx="9601200" cy="457200"/>
          </a:xfrm>
          <a:prstGeom prst="rect">
            <a:avLst/>
          </a:prstGeom>
          <a:noFill/>
        </p:spPr>
        <p:txBody>
          <a:bodyPr wrap="square">
            <a:spAutoFit/>
          </a:bodyPr>
          <a:lstStyle/>
          <a:p>
            <a:pPr algn="l">
              <a:defRPr sz="1400" b="0">
                <a:solidFill>
                  <a:srgbClr val="8888AA"/>
                </a:solidFill>
                <a:latin typeface="Calibri"/>
              </a:defRPr>
            </a:pPr>
            <a:r>
              <a:t>"We have 100+ stores but our HQ team spends Monday mornings calling store managers for weekend numbers."</a:t>
            </a:r>
          </a:p>
        </p:txBody>
      </p:sp>
      <p:sp>
        <p:nvSpPr>
          <p:cNvPr id="19" name="TextBox 18"/>
          <p:cNvSpPr txBox="1"/>
          <p:nvPr/>
        </p:nvSpPr>
        <p:spPr>
          <a:xfrm>
            <a:off x="1097280" y="5394960"/>
            <a:ext cx="9144000" cy="274320"/>
          </a:xfrm>
          <a:prstGeom prst="rect">
            <a:avLst/>
          </a:prstGeom>
          <a:noFill/>
        </p:spPr>
        <p:txBody>
          <a:bodyPr wrap="square">
            <a:spAutoFit/>
          </a:bodyPr>
          <a:lstStyle/>
          <a:p>
            <a:pPr algn="l">
              <a:defRPr sz="1100" b="0">
                <a:solidFill>
                  <a:srgbClr val="555577"/>
                </a:solidFill>
                <a:latin typeface="Calibri"/>
              </a:defRPr>
            </a:pPr>
            <a:r>
              <a:t>— Operations Head, Premium Retail Chain</a:t>
            </a:r>
          </a:p>
        </p:txBody>
      </p:sp>
      <p:sp>
        <p:nvSpPr>
          <p:cNvPr id="20" name="TextBox 19"/>
          <p:cNvSpPr txBox="1"/>
          <p:nvPr/>
        </p:nvSpPr>
        <p:spPr>
          <a:xfrm>
            <a:off x="731520" y="6126480"/>
            <a:ext cx="9144000" cy="365760"/>
          </a:xfrm>
          <a:prstGeom prst="rect">
            <a:avLst/>
          </a:prstGeom>
          <a:noFill/>
        </p:spPr>
        <p:txBody>
          <a:bodyPr wrap="square">
            <a:spAutoFit/>
          </a:bodyPr>
          <a:lstStyle/>
          <a:p>
            <a:pPr algn="l">
              <a:defRPr sz="1200" b="0">
                <a:solidFill>
                  <a:srgbClr val="555577"/>
                </a:solidFill>
                <a:latin typeface="Calibri"/>
              </a:defRPr>
            </a:pPr>
            <a:r>
              <a:t>Tools that worked at 30 stores break at 100. And they completely fail at 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00D4AA"/>
                </a:solidFill>
                <a:latin typeface="Calibri"/>
              </a:defRPr>
            </a:pPr>
            <a:r>
              <a:t>PLATFORM OVERVIEW</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One Platform. Every Store. Every Insight.</a:t>
            </a:r>
          </a:p>
        </p:txBody>
      </p:sp>
      <p:sp>
        <p:nvSpPr>
          <p:cNvPr id="4" name="Rounded Rectangle 3"/>
          <p:cNvSpPr/>
          <p:nvPr/>
        </p:nvSpPr>
        <p:spPr>
          <a:xfrm>
            <a:off x="731520" y="2011680"/>
            <a:ext cx="10698480" cy="1188720"/>
          </a:xfrm>
          <a:prstGeom prst="roundRect">
            <a:avLst/>
          </a:prstGeom>
          <a:solidFill>
            <a:srgbClr val="141228"/>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3657600" cy="274320"/>
          </a:xfrm>
          <a:prstGeom prst="rect">
            <a:avLst/>
          </a:prstGeom>
          <a:noFill/>
        </p:spPr>
        <p:txBody>
          <a:bodyPr wrap="square">
            <a:spAutoFit/>
          </a:bodyPr>
          <a:lstStyle/>
          <a:p>
            <a:pPr algn="l">
              <a:defRPr sz="1000" b="1">
                <a:solidFill>
                  <a:srgbClr val="6C63FF"/>
                </a:solidFill>
                <a:latin typeface="Calibri"/>
              </a:defRPr>
            </a:pPr>
            <a:r>
              <a:t>EXPERIENCE LAYER</a:t>
            </a:r>
          </a:p>
        </p:txBody>
      </p:sp>
      <p:sp>
        <p:nvSpPr>
          <p:cNvPr id="6" name="Rounded Rectangle 5"/>
          <p:cNvSpPr/>
          <p:nvPr/>
        </p:nvSpPr>
        <p:spPr>
          <a:xfrm>
            <a:off x="822960" y="2468880"/>
            <a:ext cx="2377440" cy="457200"/>
          </a:xfrm>
          <a:prstGeom prst="roundRect">
            <a:avLst/>
          </a:prstGeom>
          <a:solidFill>
            <a:srgbClr val="1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14600"/>
            <a:ext cx="2377440" cy="365760"/>
          </a:xfrm>
          <a:prstGeom prst="rect">
            <a:avLst/>
          </a:prstGeom>
          <a:noFill/>
        </p:spPr>
        <p:txBody>
          <a:bodyPr wrap="square">
            <a:spAutoFit/>
          </a:bodyPr>
          <a:lstStyle/>
          <a:p>
            <a:pPr algn="ctr">
              <a:defRPr sz="1200" b="0">
                <a:solidFill>
                  <a:srgbClr val="F0F0F5"/>
                </a:solidFill>
                <a:latin typeface="Calibri"/>
              </a:defRPr>
            </a:pPr>
            <a:r>
              <a:t>AI Fragrance Advisor</a:t>
            </a:r>
          </a:p>
        </p:txBody>
      </p:sp>
      <p:sp>
        <p:nvSpPr>
          <p:cNvPr id="8" name="Rounded Rectangle 7"/>
          <p:cNvSpPr/>
          <p:nvPr/>
        </p:nvSpPr>
        <p:spPr>
          <a:xfrm>
            <a:off x="3474720" y="2468880"/>
            <a:ext cx="2377440" cy="457200"/>
          </a:xfrm>
          <a:prstGeom prst="roundRect">
            <a:avLst/>
          </a:prstGeom>
          <a:solidFill>
            <a:srgbClr val="1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2514600"/>
            <a:ext cx="2377440" cy="365760"/>
          </a:xfrm>
          <a:prstGeom prst="rect">
            <a:avLst/>
          </a:prstGeom>
          <a:noFill/>
        </p:spPr>
        <p:txBody>
          <a:bodyPr wrap="square">
            <a:spAutoFit/>
          </a:bodyPr>
          <a:lstStyle/>
          <a:p>
            <a:pPr algn="ctr">
              <a:defRPr sz="1200" b="0">
                <a:solidFill>
                  <a:srgbClr val="F0F0F5"/>
                </a:solidFill>
                <a:latin typeface="Calibri"/>
              </a:defRPr>
            </a:pPr>
            <a:r>
              <a:t>WhatsApp CRM</a:t>
            </a:r>
          </a:p>
        </p:txBody>
      </p:sp>
      <p:sp>
        <p:nvSpPr>
          <p:cNvPr id="10" name="Rounded Rectangle 9"/>
          <p:cNvSpPr/>
          <p:nvPr/>
        </p:nvSpPr>
        <p:spPr>
          <a:xfrm>
            <a:off x="6126480" y="2468880"/>
            <a:ext cx="2377440" cy="457200"/>
          </a:xfrm>
          <a:prstGeom prst="roundRect">
            <a:avLst/>
          </a:prstGeom>
          <a:solidFill>
            <a:srgbClr val="1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2514600"/>
            <a:ext cx="2377440" cy="365760"/>
          </a:xfrm>
          <a:prstGeom prst="rect">
            <a:avLst/>
          </a:prstGeom>
          <a:noFill/>
        </p:spPr>
        <p:txBody>
          <a:bodyPr wrap="square">
            <a:spAutoFit/>
          </a:bodyPr>
          <a:lstStyle/>
          <a:p>
            <a:pPr algn="ctr">
              <a:defRPr sz="1200" b="0">
                <a:solidFill>
                  <a:srgbClr val="F0F0F5"/>
                </a:solidFill>
                <a:latin typeface="Calibri"/>
              </a:defRPr>
            </a:pPr>
            <a:r>
              <a:t>Dynamic Pricing</a:t>
            </a:r>
          </a:p>
        </p:txBody>
      </p:sp>
      <p:sp>
        <p:nvSpPr>
          <p:cNvPr id="12" name="Rounded Rectangle 11"/>
          <p:cNvSpPr/>
          <p:nvPr/>
        </p:nvSpPr>
        <p:spPr>
          <a:xfrm>
            <a:off x="8778240" y="2468880"/>
            <a:ext cx="2377440" cy="457200"/>
          </a:xfrm>
          <a:prstGeom prst="roundRect">
            <a:avLst/>
          </a:prstGeom>
          <a:solidFill>
            <a:srgbClr val="1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2514600"/>
            <a:ext cx="2377440" cy="365760"/>
          </a:xfrm>
          <a:prstGeom prst="rect">
            <a:avLst/>
          </a:prstGeom>
          <a:noFill/>
        </p:spPr>
        <p:txBody>
          <a:bodyPr wrap="square">
            <a:spAutoFit/>
          </a:bodyPr>
          <a:lstStyle/>
          <a:p>
            <a:pPr algn="ctr">
              <a:defRPr sz="1200" b="0">
                <a:solidFill>
                  <a:srgbClr val="F0F0F5"/>
                </a:solidFill>
                <a:latin typeface="Calibri"/>
              </a:defRPr>
            </a:pPr>
            <a:r>
              <a:t>L&amp;D Academy</a:t>
            </a:r>
          </a:p>
        </p:txBody>
      </p:sp>
      <p:sp>
        <p:nvSpPr>
          <p:cNvPr id="14" name="Rounded Rectangle 13"/>
          <p:cNvSpPr/>
          <p:nvPr/>
        </p:nvSpPr>
        <p:spPr>
          <a:xfrm>
            <a:off x="731520" y="3383280"/>
            <a:ext cx="10698480" cy="1188720"/>
          </a:xfrm>
          <a:prstGeom prst="roundRect">
            <a:avLst/>
          </a:prstGeom>
          <a:solidFill>
            <a:srgbClr val="0E1A18"/>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74720"/>
            <a:ext cx="3657600" cy="274320"/>
          </a:xfrm>
          <a:prstGeom prst="rect">
            <a:avLst/>
          </a:prstGeom>
          <a:noFill/>
        </p:spPr>
        <p:txBody>
          <a:bodyPr wrap="square">
            <a:spAutoFit/>
          </a:bodyPr>
          <a:lstStyle/>
          <a:p>
            <a:pPr algn="l">
              <a:defRPr sz="1000" b="1">
                <a:solidFill>
                  <a:srgbClr val="00D4AA"/>
                </a:solidFill>
                <a:latin typeface="Calibri"/>
              </a:defRPr>
            </a:pPr>
            <a:r>
              <a:t>INTELLIGENCE LAYER</a:t>
            </a:r>
          </a:p>
        </p:txBody>
      </p:sp>
      <p:sp>
        <p:nvSpPr>
          <p:cNvPr id="16" name="Rounded Rectangle 15"/>
          <p:cNvSpPr/>
          <p:nvPr/>
        </p:nvSpPr>
        <p:spPr>
          <a:xfrm>
            <a:off x="914400" y="3840480"/>
            <a:ext cx="2377440" cy="457200"/>
          </a:xfrm>
          <a:prstGeom prst="roundRect">
            <a:avLst/>
          </a:prstGeom>
          <a:solidFill>
            <a:srgbClr val="12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86200"/>
            <a:ext cx="2377440" cy="365760"/>
          </a:xfrm>
          <a:prstGeom prst="rect">
            <a:avLst/>
          </a:prstGeom>
          <a:noFill/>
        </p:spPr>
        <p:txBody>
          <a:bodyPr wrap="square">
            <a:spAutoFit/>
          </a:bodyPr>
          <a:lstStyle/>
          <a:p>
            <a:pPr algn="ctr">
              <a:defRPr sz="1200" b="0">
                <a:solidFill>
                  <a:srgbClr val="F0F0F5"/>
                </a:solidFill>
                <a:latin typeface="Calibri"/>
              </a:defRPr>
            </a:pPr>
            <a:r>
              <a:t>Demand Forecasting</a:t>
            </a:r>
          </a:p>
        </p:txBody>
      </p:sp>
      <p:sp>
        <p:nvSpPr>
          <p:cNvPr id="18" name="Rounded Rectangle 17"/>
          <p:cNvSpPr/>
          <p:nvPr/>
        </p:nvSpPr>
        <p:spPr>
          <a:xfrm>
            <a:off x="3566160" y="3840480"/>
            <a:ext cx="2377440" cy="457200"/>
          </a:xfrm>
          <a:prstGeom prst="roundRect">
            <a:avLst/>
          </a:prstGeom>
          <a:solidFill>
            <a:srgbClr val="12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3886200"/>
            <a:ext cx="2377440" cy="365760"/>
          </a:xfrm>
          <a:prstGeom prst="rect">
            <a:avLst/>
          </a:prstGeom>
          <a:noFill/>
        </p:spPr>
        <p:txBody>
          <a:bodyPr wrap="square">
            <a:spAutoFit/>
          </a:bodyPr>
          <a:lstStyle/>
          <a:p>
            <a:pPr algn="ctr">
              <a:defRPr sz="1200" b="0">
                <a:solidFill>
                  <a:srgbClr val="F0F0F5"/>
                </a:solidFill>
                <a:latin typeface="Calibri"/>
              </a:defRPr>
            </a:pPr>
            <a:r>
              <a:t>Customer Analytics</a:t>
            </a:r>
          </a:p>
        </p:txBody>
      </p:sp>
      <p:sp>
        <p:nvSpPr>
          <p:cNvPr id="20" name="Rounded Rectangle 19"/>
          <p:cNvSpPr/>
          <p:nvPr/>
        </p:nvSpPr>
        <p:spPr>
          <a:xfrm>
            <a:off x="6217920" y="3840480"/>
            <a:ext cx="2377440" cy="457200"/>
          </a:xfrm>
          <a:prstGeom prst="roundRect">
            <a:avLst/>
          </a:prstGeom>
          <a:solidFill>
            <a:srgbClr val="12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3886200"/>
            <a:ext cx="2377440" cy="365760"/>
          </a:xfrm>
          <a:prstGeom prst="rect">
            <a:avLst/>
          </a:prstGeom>
          <a:noFill/>
        </p:spPr>
        <p:txBody>
          <a:bodyPr wrap="square">
            <a:spAutoFit/>
          </a:bodyPr>
          <a:lstStyle/>
          <a:p>
            <a:pPr algn="ctr">
              <a:defRPr sz="1200" b="0">
                <a:solidFill>
                  <a:srgbClr val="F0F0F5"/>
                </a:solidFill>
                <a:latin typeface="Calibri"/>
              </a:defRPr>
            </a:pPr>
            <a:r>
              <a:t>Inventory Intelligence</a:t>
            </a:r>
          </a:p>
        </p:txBody>
      </p:sp>
      <p:sp>
        <p:nvSpPr>
          <p:cNvPr id="22" name="Rounded Rectangle 21"/>
          <p:cNvSpPr/>
          <p:nvPr/>
        </p:nvSpPr>
        <p:spPr>
          <a:xfrm>
            <a:off x="8869680" y="3840480"/>
            <a:ext cx="2377440" cy="457200"/>
          </a:xfrm>
          <a:prstGeom prst="roundRect">
            <a:avLst/>
          </a:prstGeom>
          <a:solidFill>
            <a:srgbClr val="12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0" y="3886200"/>
            <a:ext cx="2377440" cy="365760"/>
          </a:xfrm>
          <a:prstGeom prst="rect">
            <a:avLst/>
          </a:prstGeom>
          <a:noFill/>
        </p:spPr>
        <p:txBody>
          <a:bodyPr wrap="square">
            <a:spAutoFit/>
          </a:bodyPr>
          <a:lstStyle/>
          <a:p>
            <a:pPr algn="ctr">
              <a:defRPr sz="1200" b="0">
                <a:solidFill>
                  <a:srgbClr val="F0F0F5"/>
                </a:solidFill>
                <a:latin typeface="Calibri"/>
              </a:defRPr>
            </a:pPr>
            <a:r>
              <a:t>Staff Performance AI</a:t>
            </a:r>
          </a:p>
        </p:txBody>
      </p:sp>
      <p:sp>
        <p:nvSpPr>
          <p:cNvPr id="24" name="Rounded Rectangle 23"/>
          <p:cNvSpPr/>
          <p:nvPr/>
        </p:nvSpPr>
        <p:spPr>
          <a:xfrm>
            <a:off x="731520" y="4754880"/>
            <a:ext cx="10698480" cy="1188720"/>
          </a:xfrm>
          <a:prstGeom prst="roundRect">
            <a:avLst/>
          </a:prstGeom>
          <a:solidFill>
            <a:srgbClr val="1E160A"/>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46320"/>
            <a:ext cx="5486400" cy="274320"/>
          </a:xfrm>
          <a:prstGeom prst="rect">
            <a:avLst/>
          </a:prstGeom>
          <a:noFill/>
        </p:spPr>
        <p:txBody>
          <a:bodyPr wrap="square">
            <a:spAutoFit/>
          </a:bodyPr>
          <a:lstStyle/>
          <a:p>
            <a:pPr algn="l">
              <a:defRPr sz="1000" b="1">
                <a:solidFill>
                  <a:srgbClr val="F5A623"/>
                </a:solidFill>
                <a:latin typeface="Calibri"/>
              </a:defRPr>
            </a:pPr>
            <a:r>
              <a:t>⬤  FOUNDATION LAYER — START HERE</a:t>
            </a:r>
          </a:p>
        </p:txBody>
      </p:sp>
      <p:sp>
        <p:nvSpPr>
          <p:cNvPr id="26" name="Rounded Rectangle 25"/>
          <p:cNvSpPr/>
          <p:nvPr/>
        </p:nvSpPr>
        <p:spPr>
          <a:xfrm>
            <a:off x="1097280" y="5212080"/>
            <a:ext cx="4572000" cy="457200"/>
          </a:xfrm>
          <a:prstGeom prst="roundRect">
            <a:avLst/>
          </a:prstGeom>
          <a:solidFill>
            <a:srgbClr val="282010"/>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257800"/>
            <a:ext cx="4572000" cy="365760"/>
          </a:xfrm>
          <a:prstGeom prst="rect">
            <a:avLst/>
          </a:prstGeom>
          <a:noFill/>
        </p:spPr>
        <p:txBody>
          <a:bodyPr wrap="square">
            <a:spAutoFit/>
          </a:bodyPr>
          <a:lstStyle/>
          <a:p>
            <a:pPr algn="ctr">
              <a:defRPr sz="1400" b="1">
                <a:solidFill>
                  <a:srgbClr val="FFFFFF"/>
                </a:solidFill>
                <a:latin typeface="Calibri"/>
              </a:defRPr>
            </a:pPr>
            <a:r>
              <a:t>Smart POS &amp; Store Operations</a:t>
            </a:r>
          </a:p>
        </p:txBody>
      </p:sp>
      <p:sp>
        <p:nvSpPr>
          <p:cNvPr id="28" name="Rounded Rectangle 27"/>
          <p:cNvSpPr/>
          <p:nvPr/>
        </p:nvSpPr>
        <p:spPr>
          <a:xfrm>
            <a:off x="6126480" y="5212080"/>
            <a:ext cx="4572000" cy="457200"/>
          </a:xfrm>
          <a:prstGeom prst="roundRect">
            <a:avLst/>
          </a:prstGeom>
          <a:solidFill>
            <a:srgbClr val="282010"/>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5257800"/>
            <a:ext cx="4572000" cy="365760"/>
          </a:xfrm>
          <a:prstGeom prst="rect">
            <a:avLst/>
          </a:prstGeom>
          <a:noFill/>
        </p:spPr>
        <p:txBody>
          <a:bodyPr wrap="square">
            <a:spAutoFit/>
          </a:bodyPr>
          <a:lstStyle/>
          <a:p>
            <a:pPr algn="ctr">
              <a:defRPr sz="1400" b="1">
                <a:solidFill>
                  <a:srgbClr val="FFFFFF"/>
                </a:solidFill>
                <a:latin typeface="Calibri"/>
              </a:defRPr>
            </a:pPr>
            <a:r>
              <a:t>Real-Time Command Center &amp; Dashboards</a:t>
            </a:r>
          </a:p>
        </p:txBody>
      </p:sp>
      <p:sp>
        <p:nvSpPr>
          <p:cNvPr id="30" name="TextBox 29"/>
          <p:cNvSpPr txBox="1"/>
          <p:nvPr/>
        </p:nvSpPr>
        <p:spPr>
          <a:xfrm>
            <a:off x="731520" y="6126480"/>
            <a:ext cx="10698480" cy="365760"/>
          </a:xfrm>
          <a:prstGeom prst="rect">
            <a:avLst/>
          </a:prstGeom>
          <a:noFill/>
        </p:spPr>
        <p:txBody>
          <a:bodyPr wrap="square">
            <a:spAutoFit/>
          </a:bodyPr>
          <a:lstStyle/>
          <a:p>
            <a:pPr algn="ctr">
              <a:defRPr sz="1400" b="0">
                <a:solidFill>
                  <a:srgbClr val="8888AA"/>
                </a:solidFill>
                <a:latin typeface="Calibri"/>
              </a:defRPr>
            </a:pPr>
            <a:r>
              <a:t>The foundation powers the intelligence. The intelligence powers the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F5A623"/>
                </a:solidFill>
                <a:latin typeface="Calibri"/>
              </a:defRPr>
            </a:pPr>
            <a:r>
              <a:t>FOUNDATION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Smart POS — The Nerve Center of Every Store</a:t>
            </a:r>
          </a:p>
        </p:txBody>
      </p:sp>
      <p:sp>
        <p:nvSpPr>
          <p:cNvPr id="4" name="TextBox 3"/>
          <p:cNvSpPr txBox="1"/>
          <p:nvPr/>
        </p:nvSpPr>
        <p:spPr>
          <a:xfrm>
            <a:off x="731520" y="1920240"/>
            <a:ext cx="5486400" cy="365760"/>
          </a:xfrm>
          <a:prstGeom prst="rect">
            <a:avLst/>
          </a:prstGeom>
          <a:noFill/>
        </p:spPr>
        <p:txBody>
          <a:bodyPr wrap="square">
            <a:spAutoFit/>
          </a:bodyPr>
          <a:lstStyle/>
          <a:p>
            <a:pPr algn="l">
              <a:defRPr sz="1300" b="0">
                <a:solidFill>
                  <a:srgbClr val="8888AA"/>
                </a:solidFill>
                <a:latin typeface="Calibri"/>
              </a:defRPr>
            </a:pPr>
            <a:r>
              <a:t>→  One-tap billing with auto product recognition</a:t>
            </a:r>
          </a:p>
        </p:txBody>
      </p:sp>
      <p:sp>
        <p:nvSpPr>
          <p:cNvPr id="5" name="TextBox 4"/>
          <p:cNvSpPr txBox="1"/>
          <p:nvPr/>
        </p:nvSpPr>
        <p:spPr>
          <a:xfrm>
            <a:off x="731520" y="2304288"/>
            <a:ext cx="5486400" cy="365760"/>
          </a:xfrm>
          <a:prstGeom prst="rect">
            <a:avLst/>
          </a:prstGeom>
          <a:noFill/>
        </p:spPr>
        <p:txBody>
          <a:bodyPr wrap="square">
            <a:spAutoFit/>
          </a:bodyPr>
          <a:lstStyle/>
          <a:p>
            <a:pPr algn="l">
              <a:defRPr sz="1300" b="0">
                <a:solidFill>
                  <a:srgbClr val="8888AA"/>
                </a:solidFill>
                <a:latin typeface="Calibri"/>
              </a:defRPr>
            </a:pPr>
            <a:r>
              <a:t>→  Auto-applied promotions — no manual discount entry</a:t>
            </a:r>
          </a:p>
        </p:txBody>
      </p:sp>
      <p:sp>
        <p:nvSpPr>
          <p:cNvPr id="6" name="TextBox 5"/>
          <p:cNvSpPr txBox="1"/>
          <p:nvPr/>
        </p:nvSpPr>
        <p:spPr>
          <a:xfrm>
            <a:off x="731520" y="2688336"/>
            <a:ext cx="5486400" cy="365760"/>
          </a:xfrm>
          <a:prstGeom prst="rect">
            <a:avLst/>
          </a:prstGeom>
          <a:noFill/>
        </p:spPr>
        <p:txBody>
          <a:bodyPr wrap="square">
            <a:spAutoFit/>
          </a:bodyPr>
          <a:lstStyle/>
          <a:p>
            <a:pPr algn="l">
              <a:defRPr sz="1300" b="0">
                <a:solidFill>
                  <a:srgbClr val="8888AA"/>
                </a:solidFill>
                <a:latin typeface="Calibri"/>
              </a:defRPr>
            </a:pPr>
            <a:r>
              <a:t>→  Offline-first — works without internet, syncs when back</a:t>
            </a:r>
          </a:p>
        </p:txBody>
      </p:sp>
      <p:sp>
        <p:nvSpPr>
          <p:cNvPr id="7" name="TextBox 6"/>
          <p:cNvSpPr txBox="1"/>
          <p:nvPr/>
        </p:nvSpPr>
        <p:spPr>
          <a:xfrm>
            <a:off x="731520" y="3072384"/>
            <a:ext cx="5486400" cy="365760"/>
          </a:xfrm>
          <a:prstGeom prst="rect">
            <a:avLst/>
          </a:prstGeom>
          <a:noFill/>
        </p:spPr>
        <p:txBody>
          <a:bodyPr wrap="square">
            <a:spAutoFit/>
          </a:bodyPr>
          <a:lstStyle/>
          <a:p>
            <a:pPr algn="l">
              <a:defRPr sz="1300" b="0">
                <a:solidFill>
                  <a:srgbClr val="8888AA"/>
                </a:solidFill>
                <a:latin typeface="Calibri"/>
              </a:defRPr>
            </a:pPr>
            <a:r>
              <a:t>→  Franchise + company-owned on one unified system</a:t>
            </a:r>
          </a:p>
        </p:txBody>
      </p:sp>
      <p:sp>
        <p:nvSpPr>
          <p:cNvPr id="8" name="TextBox 7"/>
          <p:cNvSpPr txBox="1"/>
          <p:nvPr/>
        </p:nvSpPr>
        <p:spPr>
          <a:xfrm>
            <a:off x="731520" y="3456432"/>
            <a:ext cx="5486400" cy="365760"/>
          </a:xfrm>
          <a:prstGeom prst="rect">
            <a:avLst/>
          </a:prstGeom>
          <a:noFill/>
        </p:spPr>
        <p:txBody>
          <a:bodyPr wrap="square">
            <a:spAutoFit/>
          </a:bodyPr>
          <a:lstStyle/>
          <a:p>
            <a:pPr algn="l">
              <a:defRPr sz="1300" b="0">
                <a:solidFill>
                  <a:srgbClr val="8888AA"/>
                </a:solidFill>
                <a:latin typeface="Calibri"/>
              </a:defRPr>
            </a:pPr>
            <a:r>
              <a:t>→  Multi-format: full store, kiosk, shop-in-shop counter</a:t>
            </a:r>
          </a:p>
        </p:txBody>
      </p:sp>
      <p:sp>
        <p:nvSpPr>
          <p:cNvPr id="9" name="TextBox 8"/>
          <p:cNvSpPr txBox="1"/>
          <p:nvPr/>
        </p:nvSpPr>
        <p:spPr>
          <a:xfrm>
            <a:off x="731520" y="3840480"/>
            <a:ext cx="5486400" cy="365760"/>
          </a:xfrm>
          <a:prstGeom prst="rect">
            <a:avLst/>
          </a:prstGeom>
          <a:noFill/>
        </p:spPr>
        <p:txBody>
          <a:bodyPr wrap="square">
            <a:spAutoFit/>
          </a:bodyPr>
          <a:lstStyle/>
          <a:p>
            <a:pPr algn="l">
              <a:defRPr sz="1300" b="0">
                <a:solidFill>
                  <a:srgbClr val="8888AA"/>
                </a:solidFill>
                <a:latin typeface="Calibri"/>
              </a:defRPr>
            </a:pPr>
            <a:r>
              <a:t>→  Integrated payments: UPI, card, wallet — auto-reconciled</a:t>
            </a:r>
          </a:p>
        </p:txBody>
      </p:sp>
      <p:sp>
        <p:nvSpPr>
          <p:cNvPr id="10" name="TextBox 9"/>
          <p:cNvSpPr txBox="1"/>
          <p:nvPr/>
        </p:nvSpPr>
        <p:spPr>
          <a:xfrm>
            <a:off x="731520" y="4224528"/>
            <a:ext cx="5486400" cy="365760"/>
          </a:xfrm>
          <a:prstGeom prst="rect">
            <a:avLst/>
          </a:prstGeom>
          <a:noFill/>
        </p:spPr>
        <p:txBody>
          <a:bodyPr wrap="square">
            <a:spAutoFit/>
          </a:bodyPr>
          <a:lstStyle/>
          <a:p>
            <a:pPr algn="l">
              <a:defRPr sz="1300" b="0">
                <a:solidFill>
                  <a:srgbClr val="8888AA"/>
                </a:solidFill>
                <a:latin typeface="Calibri"/>
              </a:defRPr>
            </a:pPr>
            <a:r>
              <a:t>→  GST-ready invoicing with instant digital receipts</a:t>
            </a:r>
          </a:p>
        </p:txBody>
      </p:sp>
      <p:sp>
        <p:nvSpPr>
          <p:cNvPr id="11" name="Rounded Rectangle 10"/>
          <p:cNvSpPr/>
          <p:nvPr/>
        </p:nvSpPr>
        <p:spPr>
          <a:xfrm>
            <a:off x="6858000" y="1920240"/>
            <a:ext cx="4572000" cy="3200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2011680"/>
            <a:ext cx="4114800" cy="365760"/>
          </a:xfrm>
          <a:prstGeom prst="rect">
            <a:avLst/>
          </a:prstGeom>
          <a:noFill/>
        </p:spPr>
        <p:txBody>
          <a:bodyPr wrap="square">
            <a:spAutoFit/>
          </a:bodyPr>
          <a:lstStyle/>
          <a:p>
            <a:pPr algn="l">
              <a:defRPr sz="1800" b="1">
                <a:solidFill>
                  <a:srgbClr val="00D4AA"/>
                </a:solidFill>
                <a:latin typeface="Calibri"/>
              </a:defRPr>
            </a:pPr>
            <a:r>
              <a:t>What Changes</a:t>
            </a:r>
          </a:p>
        </p:txBody>
      </p:sp>
      <p:sp>
        <p:nvSpPr>
          <p:cNvPr id="13" name="TextBox 12"/>
          <p:cNvSpPr txBox="1"/>
          <p:nvPr/>
        </p:nvSpPr>
        <p:spPr>
          <a:xfrm>
            <a:off x="7040880" y="2651760"/>
            <a:ext cx="1188720" cy="274320"/>
          </a:xfrm>
          <a:prstGeom prst="rect">
            <a:avLst/>
          </a:prstGeom>
          <a:noFill/>
        </p:spPr>
        <p:txBody>
          <a:bodyPr wrap="square">
            <a:spAutoFit/>
          </a:bodyPr>
          <a:lstStyle/>
          <a:p>
            <a:pPr algn="l">
              <a:defRPr sz="1300" b="0">
                <a:solidFill>
                  <a:srgbClr val="555577"/>
                </a:solidFill>
                <a:latin typeface="Calibri"/>
              </a:defRPr>
            </a:pPr>
            <a:r>
              <a:t>4-5 min</a:t>
            </a:r>
          </a:p>
        </p:txBody>
      </p:sp>
      <p:sp>
        <p:nvSpPr>
          <p:cNvPr id="14" name="TextBox 13"/>
          <p:cNvSpPr txBox="1"/>
          <p:nvPr/>
        </p:nvSpPr>
        <p:spPr>
          <a:xfrm>
            <a:off x="8321040" y="2651760"/>
            <a:ext cx="365760" cy="274320"/>
          </a:xfrm>
          <a:prstGeom prst="rect">
            <a:avLst/>
          </a:prstGeom>
          <a:noFill/>
        </p:spPr>
        <p:txBody>
          <a:bodyPr wrap="square">
            <a:spAutoFit/>
          </a:bodyPr>
          <a:lstStyle/>
          <a:p>
            <a:pPr algn="l">
              <a:defRPr sz="1300" b="1">
                <a:solidFill>
                  <a:srgbClr val="00D4AA"/>
                </a:solidFill>
                <a:latin typeface="Calibri"/>
              </a:defRPr>
            </a:pPr>
            <a:r>
              <a:t>→</a:t>
            </a:r>
          </a:p>
        </p:txBody>
      </p:sp>
      <p:sp>
        <p:nvSpPr>
          <p:cNvPr id="15" name="TextBox 14"/>
          <p:cNvSpPr txBox="1"/>
          <p:nvPr/>
        </p:nvSpPr>
        <p:spPr>
          <a:xfrm>
            <a:off x="8686800" y="2651760"/>
            <a:ext cx="1188720" cy="274320"/>
          </a:xfrm>
          <a:prstGeom prst="rect">
            <a:avLst/>
          </a:prstGeom>
          <a:noFill/>
        </p:spPr>
        <p:txBody>
          <a:bodyPr wrap="square">
            <a:spAutoFit/>
          </a:bodyPr>
          <a:lstStyle/>
          <a:p>
            <a:pPr algn="l">
              <a:defRPr sz="1300" b="1">
                <a:solidFill>
                  <a:srgbClr val="00D4AA"/>
                </a:solidFill>
                <a:latin typeface="Calibri"/>
              </a:defRPr>
            </a:pPr>
            <a:r>
              <a:t>45 sec</a:t>
            </a:r>
          </a:p>
        </p:txBody>
      </p:sp>
      <p:sp>
        <p:nvSpPr>
          <p:cNvPr id="16" name="TextBox 15"/>
          <p:cNvSpPr txBox="1"/>
          <p:nvPr/>
        </p:nvSpPr>
        <p:spPr>
          <a:xfrm>
            <a:off x="7040880" y="2880360"/>
            <a:ext cx="4114800" cy="274320"/>
          </a:xfrm>
          <a:prstGeom prst="rect">
            <a:avLst/>
          </a:prstGeom>
          <a:noFill/>
        </p:spPr>
        <p:txBody>
          <a:bodyPr wrap="square">
            <a:spAutoFit/>
          </a:bodyPr>
          <a:lstStyle/>
          <a:p>
            <a:pPr algn="l">
              <a:defRPr sz="1100" b="0">
                <a:solidFill>
                  <a:srgbClr val="555577"/>
                </a:solidFill>
                <a:latin typeface="Calibri"/>
              </a:defRPr>
            </a:pPr>
            <a:r>
              <a:t>Billing time per transaction</a:t>
            </a:r>
          </a:p>
        </p:txBody>
      </p:sp>
      <p:sp>
        <p:nvSpPr>
          <p:cNvPr id="17" name="TextBox 16"/>
          <p:cNvSpPr txBox="1"/>
          <p:nvPr/>
        </p:nvSpPr>
        <p:spPr>
          <a:xfrm>
            <a:off x="7040880" y="3291839"/>
            <a:ext cx="1188720" cy="274320"/>
          </a:xfrm>
          <a:prstGeom prst="rect">
            <a:avLst/>
          </a:prstGeom>
          <a:noFill/>
        </p:spPr>
        <p:txBody>
          <a:bodyPr wrap="square">
            <a:spAutoFit/>
          </a:bodyPr>
          <a:lstStyle/>
          <a:p>
            <a:pPr algn="l">
              <a:defRPr sz="1300" b="0">
                <a:solidFill>
                  <a:srgbClr val="555577"/>
                </a:solidFill>
                <a:latin typeface="Calibri"/>
              </a:defRPr>
            </a:pPr>
            <a:r>
              <a:t>Manual</a:t>
            </a:r>
          </a:p>
        </p:txBody>
      </p:sp>
      <p:sp>
        <p:nvSpPr>
          <p:cNvPr id="18" name="TextBox 17"/>
          <p:cNvSpPr txBox="1"/>
          <p:nvPr/>
        </p:nvSpPr>
        <p:spPr>
          <a:xfrm>
            <a:off x="8321040" y="3291839"/>
            <a:ext cx="365760" cy="274320"/>
          </a:xfrm>
          <a:prstGeom prst="rect">
            <a:avLst/>
          </a:prstGeom>
          <a:noFill/>
        </p:spPr>
        <p:txBody>
          <a:bodyPr wrap="square">
            <a:spAutoFit/>
          </a:bodyPr>
          <a:lstStyle/>
          <a:p>
            <a:pPr algn="l">
              <a:defRPr sz="1300" b="1">
                <a:solidFill>
                  <a:srgbClr val="00D4AA"/>
                </a:solidFill>
                <a:latin typeface="Calibri"/>
              </a:defRPr>
            </a:pPr>
            <a:r>
              <a:t>→</a:t>
            </a:r>
          </a:p>
        </p:txBody>
      </p:sp>
      <p:sp>
        <p:nvSpPr>
          <p:cNvPr id="19" name="TextBox 18"/>
          <p:cNvSpPr txBox="1"/>
          <p:nvPr/>
        </p:nvSpPr>
        <p:spPr>
          <a:xfrm>
            <a:off x="8686800" y="3291839"/>
            <a:ext cx="1188720" cy="274320"/>
          </a:xfrm>
          <a:prstGeom prst="rect">
            <a:avLst/>
          </a:prstGeom>
          <a:noFill/>
        </p:spPr>
        <p:txBody>
          <a:bodyPr wrap="square">
            <a:spAutoFit/>
          </a:bodyPr>
          <a:lstStyle/>
          <a:p>
            <a:pPr algn="l">
              <a:defRPr sz="1300" b="1">
                <a:solidFill>
                  <a:srgbClr val="00D4AA"/>
                </a:solidFill>
                <a:latin typeface="Calibri"/>
              </a:defRPr>
            </a:pPr>
            <a:r>
              <a:t>Auto</a:t>
            </a:r>
          </a:p>
        </p:txBody>
      </p:sp>
      <p:sp>
        <p:nvSpPr>
          <p:cNvPr id="20" name="TextBox 19"/>
          <p:cNvSpPr txBox="1"/>
          <p:nvPr/>
        </p:nvSpPr>
        <p:spPr>
          <a:xfrm>
            <a:off x="7040880" y="3520439"/>
            <a:ext cx="4114800" cy="274320"/>
          </a:xfrm>
          <a:prstGeom prst="rect">
            <a:avLst/>
          </a:prstGeom>
          <a:noFill/>
        </p:spPr>
        <p:txBody>
          <a:bodyPr wrap="square">
            <a:spAutoFit/>
          </a:bodyPr>
          <a:lstStyle/>
          <a:p>
            <a:pPr algn="l">
              <a:defRPr sz="1100" b="0">
                <a:solidFill>
                  <a:srgbClr val="555577"/>
                </a:solidFill>
                <a:latin typeface="Calibri"/>
              </a:defRPr>
            </a:pPr>
            <a:r>
              <a:t>Promo &amp; discount application</a:t>
            </a:r>
          </a:p>
        </p:txBody>
      </p:sp>
      <p:sp>
        <p:nvSpPr>
          <p:cNvPr id="21" name="TextBox 20"/>
          <p:cNvSpPr txBox="1"/>
          <p:nvPr/>
        </p:nvSpPr>
        <p:spPr>
          <a:xfrm>
            <a:off x="7040880" y="3931920"/>
            <a:ext cx="1188720" cy="274320"/>
          </a:xfrm>
          <a:prstGeom prst="rect">
            <a:avLst/>
          </a:prstGeom>
          <a:noFill/>
        </p:spPr>
        <p:txBody>
          <a:bodyPr wrap="square">
            <a:spAutoFit/>
          </a:bodyPr>
          <a:lstStyle/>
          <a:p>
            <a:pPr algn="l">
              <a:defRPr sz="1300" b="0">
                <a:solidFill>
                  <a:srgbClr val="555577"/>
                </a:solidFill>
                <a:latin typeface="Calibri"/>
              </a:defRPr>
            </a:pPr>
            <a:r>
              <a:t>90 min</a:t>
            </a:r>
          </a:p>
        </p:txBody>
      </p:sp>
      <p:sp>
        <p:nvSpPr>
          <p:cNvPr id="22" name="TextBox 21"/>
          <p:cNvSpPr txBox="1"/>
          <p:nvPr/>
        </p:nvSpPr>
        <p:spPr>
          <a:xfrm>
            <a:off x="8321040" y="3931920"/>
            <a:ext cx="365760" cy="274320"/>
          </a:xfrm>
          <a:prstGeom prst="rect">
            <a:avLst/>
          </a:prstGeom>
          <a:noFill/>
        </p:spPr>
        <p:txBody>
          <a:bodyPr wrap="square">
            <a:spAutoFit/>
          </a:bodyPr>
          <a:lstStyle/>
          <a:p>
            <a:pPr algn="l">
              <a:defRPr sz="1300" b="1">
                <a:solidFill>
                  <a:srgbClr val="00D4AA"/>
                </a:solidFill>
                <a:latin typeface="Calibri"/>
              </a:defRPr>
            </a:pPr>
            <a:r>
              <a:t>→</a:t>
            </a:r>
          </a:p>
        </p:txBody>
      </p:sp>
      <p:sp>
        <p:nvSpPr>
          <p:cNvPr id="23" name="TextBox 22"/>
          <p:cNvSpPr txBox="1"/>
          <p:nvPr/>
        </p:nvSpPr>
        <p:spPr>
          <a:xfrm>
            <a:off x="8686800" y="3931920"/>
            <a:ext cx="1188720" cy="274320"/>
          </a:xfrm>
          <a:prstGeom prst="rect">
            <a:avLst/>
          </a:prstGeom>
          <a:noFill/>
        </p:spPr>
        <p:txBody>
          <a:bodyPr wrap="square">
            <a:spAutoFit/>
          </a:bodyPr>
          <a:lstStyle/>
          <a:p>
            <a:pPr algn="l">
              <a:defRPr sz="1300" b="1">
                <a:solidFill>
                  <a:srgbClr val="00D4AA"/>
                </a:solidFill>
                <a:latin typeface="Calibri"/>
              </a:defRPr>
            </a:pPr>
            <a:r>
              <a:t>5 min</a:t>
            </a:r>
          </a:p>
        </p:txBody>
      </p:sp>
      <p:sp>
        <p:nvSpPr>
          <p:cNvPr id="24" name="TextBox 23"/>
          <p:cNvSpPr txBox="1"/>
          <p:nvPr/>
        </p:nvSpPr>
        <p:spPr>
          <a:xfrm>
            <a:off x="7040880" y="4160520"/>
            <a:ext cx="4114800" cy="274320"/>
          </a:xfrm>
          <a:prstGeom prst="rect">
            <a:avLst/>
          </a:prstGeom>
          <a:noFill/>
        </p:spPr>
        <p:txBody>
          <a:bodyPr wrap="square">
            <a:spAutoFit/>
          </a:bodyPr>
          <a:lstStyle/>
          <a:p>
            <a:pPr algn="l">
              <a:defRPr sz="1100" b="0">
                <a:solidFill>
                  <a:srgbClr val="555577"/>
                </a:solidFill>
                <a:latin typeface="Calibri"/>
              </a:defRPr>
            </a:pPr>
            <a:r>
              <a:t>End-of-day reconciliation</a:t>
            </a:r>
          </a:p>
        </p:txBody>
      </p:sp>
      <p:sp>
        <p:nvSpPr>
          <p:cNvPr id="25" name="TextBox 24"/>
          <p:cNvSpPr txBox="1"/>
          <p:nvPr/>
        </p:nvSpPr>
        <p:spPr>
          <a:xfrm>
            <a:off x="7040880" y="4572000"/>
            <a:ext cx="1188720" cy="274320"/>
          </a:xfrm>
          <a:prstGeom prst="rect">
            <a:avLst/>
          </a:prstGeom>
          <a:noFill/>
        </p:spPr>
        <p:txBody>
          <a:bodyPr wrap="square">
            <a:spAutoFit/>
          </a:bodyPr>
          <a:lstStyle/>
          <a:p>
            <a:pPr algn="l">
              <a:defRPr sz="1300" b="0">
                <a:solidFill>
                  <a:srgbClr val="555577"/>
                </a:solidFill>
                <a:latin typeface="Calibri"/>
              </a:defRPr>
            </a:pPr>
            <a:r>
              <a:t>Next day</a:t>
            </a:r>
          </a:p>
        </p:txBody>
      </p:sp>
      <p:sp>
        <p:nvSpPr>
          <p:cNvPr id="26" name="TextBox 25"/>
          <p:cNvSpPr txBox="1"/>
          <p:nvPr/>
        </p:nvSpPr>
        <p:spPr>
          <a:xfrm>
            <a:off x="8321040" y="4572000"/>
            <a:ext cx="365760" cy="274320"/>
          </a:xfrm>
          <a:prstGeom prst="rect">
            <a:avLst/>
          </a:prstGeom>
          <a:noFill/>
        </p:spPr>
        <p:txBody>
          <a:bodyPr wrap="square">
            <a:spAutoFit/>
          </a:bodyPr>
          <a:lstStyle/>
          <a:p>
            <a:pPr algn="l">
              <a:defRPr sz="1300" b="1">
                <a:solidFill>
                  <a:srgbClr val="00D4AA"/>
                </a:solidFill>
                <a:latin typeface="Calibri"/>
              </a:defRPr>
            </a:pPr>
            <a:r>
              <a:t>→</a:t>
            </a:r>
          </a:p>
        </p:txBody>
      </p:sp>
      <p:sp>
        <p:nvSpPr>
          <p:cNvPr id="27" name="TextBox 26"/>
          <p:cNvSpPr txBox="1"/>
          <p:nvPr/>
        </p:nvSpPr>
        <p:spPr>
          <a:xfrm>
            <a:off x="8686800" y="4572000"/>
            <a:ext cx="1188720" cy="274320"/>
          </a:xfrm>
          <a:prstGeom prst="rect">
            <a:avLst/>
          </a:prstGeom>
          <a:noFill/>
        </p:spPr>
        <p:txBody>
          <a:bodyPr wrap="square">
            <a:spAutoFit/>
          </a:bodyPr>
          <a:lstStyle/>
          <a:p>
            <a:pPr algn="l">
              <a:defRPr sz="1300" b="1">
                <a:solidFill>
                  <a:srgbClr val="00D4AA"/>
                </a:solidFill>
                <a:latin typeface="Calibri"/>
              </a:defRPr>
            </a:pPr>
            <a:r>
              <a:t>Real-time</a:t>
            </a:r>
          </a:p>
        </p:txBody>
      </p:sp>
      <p:sp>
        <p:nvSpPr>
          <p:cNvPr id="28" name="TextBox 27"/>
          <p:cNvSpPr txBox="1"/>
          <p:nvPr/>
        </p:nvSpPr>
        <p:spPr>
          <a:xfrm>
            <a:off x="7040880" y="4800600"/>
            <a:ext cx="4114800" cy="274320"/>
          </a:xfrm>
          <a:prstGeom prst="rect">
            <a:avLst/>
          </a:prstGeom>
          <a:noFill/>
        </p:spPr>
        <p:txBody>
          <a:bodyPr wrap="square">
            <a:spAutoFit/>
          </a:bodyPr>
          <a:lstStyle/>
          <a:p>
            <a:pPr algn="l">
              <a:defRPr sz="1100" b="0">
                <a:solidFill>
                  <a:srgbClr val="555577"/>
                </a:solidFill>
                <a:latin typeface="Calibri"/>
              </a:defRPr>
            </a:pPr>
            <a:r>
              <a:t>Data available to HQ</a:t>
            </a:r>
          </a:p>
        </p:txBody>
      </p:sp>
      <p:sp>
        <p:nvSpPr>
          <p:cNvPr id="29" name="TextBox 28"/>
          <p:cNvSpPr txBox="1"/>
          <p:nvPr/>
        </p:nvSpPr>
        <p:spPr>
          <a:xfrm>
            <a:off x="731520" y="5943600"/>
            <a:ext cx="10058400" cy="365760"/>
          </a:xfrm>
          <a:prstGeom prst="rect">
            <a:avLst/>
          </a:prstGeom>
          <a:noFill/>
        </p:spPr>
        <p:txBody>
          <a:bodyPr wrap="square">
            <a:spAutoFit/>
          </a:bodyPr>
          <a:lstStyle/>
          <a:p>
            <a:pPr algn="l">
              <a:defRPr sz="1200" b="0">
                <a:solidFill>
                  <a:srgbClr val="555577"/>
                </a:solidFill>
                <a:latin typeface="Calibri"/>
              </a:defRPr>
            </a:pPr>
            <a:r>
              <a:t>Every transaction becomes a data point. Every data point powers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F5A623"/>
                </a:solidFill>
                <a:latin typeface="Calibri"/>
              </a:defRPr>
            </a:pPr>
            <a:r>
              <a:t>FOUNDATION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Command Center — See Everything. Right Now.</a:t>
            </a:r>
          </a:p>
        </p:txBody>
      </p:sp>
      <p:sp>
        <p:nvSpPr>
          <p:cNvPr id="4" name="Rounded Rectangle 3"/>
          <p:cNvSpPr/>
          <p:nvPr/>
        </p:nvSpPr>
        <p:spPr>
          <a:xfrm>
            <a:off x="731520" y="1920240"/>
            <a:ext cx="5029200" cy="27432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LIVE METRICS</a:t>
            </a:r>
          </a:p>
        </p:txBody>
      </p:sp>
      <p:sp>
        <p:nvSpPr>
          <p:cNvPr id="6" name="TextBox 5"/>
          <p:cNvSpPr txBox="1"/>
          <p:nvPr/>
        </p:nvSpPr>
        <p:spPr>
          <a:xfrm>
            <a:off x="914400" y="2468880"/>
            <a:ext cx="4572000" cy="365760"/>
          </a:xfrm>
          <a:prstGeom prst="rect">
            <a:avLst/>
          </a:prstGeom>
          <a:noFill/>
        </p:spPr>
        <p:txBody>
          <a:bodyPr wrap="square">
            <a:spAutoFit/>
          </a:bodyPr>
          <a:lstStyle/>
          <a:p>
            <a:pPr algn="l">
              <a:defRPr sz="1300" b="0">
                <a:solidFill>
                  <a:srgbClr val="8888AA"/>
                </a:solidFill>
                <a:latin typeface="Calibri"/>
              </a:defRPr>
            </a:pPr>
            <a:r>
              <a:t>→  Store-by-store sales — today, this week, vs target</a:t>
            </a:r>
          </a:p>
        </p:txBody>
      </p:sp>
      <p:sp>
        <p:nvSpPr>
          <p:cNvPr id="7" name="TextBox 6"/>
          <p:cNvSpPr txBox="1"/>
          <p:nvPr/>
        </p:nvSpPr>
        <p:spPr>
          <a:xfrm>
            <a:off x="914400" y="2852928"/>
            <a:ext cx="4572000" cy="365760"/>
          </a:xfrm>
          <a:prstGeom prst="rect">
            <a:avLst/>
          </a:prstGeom>
          <a:noFill/>
        </p:spPr>
        <p:txBody>
          <a:bodyPr wrap="square">
            <a:spAutoFit/>
          </a:bodyPr>
          <a:lstStyle/>
          <a:p>
            <a:pPr algn="l">
              <a:defRPr sz="1300" b="0">
                <a:solidFill>
                  <a:srgbClr val="8888AA"/>
                </a:solidFill>
                <a:latin typeface="Calibri"/>
              </a:defRPr>
            </a:pPr>
            <a:r>
              <a:t>→  Staff performance heatmap by store &amp; region</a:t>
            </a:r>
          </a:p>
        </p:txBody>
      </p:sp>
      <p:sp>
        <p:nvSpPr>
          <p:cNvPr id="8" name="TextBox 7"/>
          <p:cNvSpPr txBox="1"/>
          <p:nvPr/>
        </p:nvSpPr>
        <p:spPr>
          <a:xfrm>
            <a:off x="914400" y="3236976"/>
            <a:ext cx="4572000" cy="365760"/>
          </a:xfrm>
          <a:prstGeom prst="rect">
            <a:avLst/>
          </a:prstGeom>
          <a:noFill/>
        </p:spPr>
        <p:txBody>
          <a:bodyPr wrap="square">
            <a:spAutoFit/>
          </a:bodyPr>
          <a:lstStyle/>
          <a:p>
            <a:pPr algn="l">
              <a:defRPr sz="1300" b="0">
                <a:solidFill>
                  <a:srgbClr val="8888AA"/>
                </a:solidFill>
                <a:latin typeface="Calibri"/>
              </a:defRPr>
            </a:pPr>
            <a:r>
              <a:t>→  Top-selling SKUs by city, format, season</a:t>
            </a:r>
          </a:p>
        </p:txBody>
      </p:sp>
      <p:sp>
        <p:nvSpPr>
          <p:cNvPr id="9" name="TextBox 8"/>
          <p:cNvSpPr txBox="1"/>
          <p:nvPr/>
        </p:nvSpPr>
        <p:spPr>
          <a:xfrm>
            <a:off x="914400" y="3621024"/>
            <a:ext cx="4572000" cy="365760"/>
          </a:xfrm>
          <a:prstGeom prst="rect">
            <a:avLst/>
          </a:prstGeom>
          <a:noFill/>
        </p:spPr>
        <p:txBody>
          <a:bodyPr wrap="square">
            <a:spAutoFit/>
          </a:bodyPr>
          <a:lstStyle/>
          <a:p>
            <a:pPr algn="l">
              <a:defRPr sz="1300" b="0">
                <a:solidFill>
                  <a:srgbClr val="8888AA"/>
                </a:solidFill>
                <a:latin typeface="Calibri"/>
              </a:defRPr>
            </a:pPr>
            <a:r>
              <a:t>→  Franchise vs. company-owned comparison</a:t>
            </a:r>
          </a:p>
        </p:txBody>
      </p:sp>
      <p:sp>
        <p:nvSpPr>
          <p:cNvPr id="10" name="TextBox 9"/>
          <p:cNvSpPr txBox="1"/>
          <p:nvPr/>
        </p:nvSpPr>
        <p:spPr>
          <a:xfrm>
            <a:off x="914400" y="4005072"/>
            <a:ext cx="4572000" cy="365760"/>
          </a:xfrm>
          <a:prstGeom prst="rect">
            <a:avLst/>
          </a:prstGeom>
          <a:noFill/>
        </p:spPr>
        <p:txBody>
          <a:bodyPr wrap="square">
            <a:spAutoFit/>
          </a:bodyPr>
          <a:lstStyle/>
          <a:p>
            <a:pPr algn="l">
              <a:defRPr sz="1300" b="0">
                <a:solidFill>
                  <a:srgbClr val="8888AA"/>
                </a:solidFill>
                <a:latin typeface="Calibri"/>
              </a:defRPr>
            </a:pPr>
            <a:r>
              <a:t>→  Alert flags: below target, stock-out, high returns</a:t>
            </a:r>
          </a:p>
        </p:txBody>
      </p:sp>
      <p:sp>
        <p:nvSpPr>
          <p:cNvPr id="11" name="Rounded Rectangle 10"/>
          <p:cNvSpPr/>
          <p:nvPr/>
        </p:nvSpPr>
        <p:spPr>
          <a:xfrm>
            <a:off x="6217920" y="1920240"/>
            <a:ext cx="5212080" cy="27432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KEY CAPABILITIES</a:t>
            </a:r>
          </a:p>
        </p:txBody>
      </p:sp>
      <p:sp>
        <p:nvSpPr>
          <p:cNvPr id="13" name="TextBox 12"/>
          <p:cNvSpPr txBox="1"/>
          <p:nvPr/>
        </p:nvSpPr>
        <p:spPr>
          <a:xfrm>
            <a:off x="6400800" y="2468880"/>
            <a:ext cx="4846320" cy="411480"/>
          </a:xfrm>
          <a:prstGeom prst="rect">
            <a:avLst/>
          </a:prstGeom>
          <a:noFill/>
        </p:spPr>
        <p:txBody>
          <a:bodyPr wrap="square">
            <a:spAutoFit/>
          </a:bodyPr>
          <a:lstStyle/>
          <a:p>
            <a:pPr algn="l">
              <a:defRPr sz="1300" b="0">
                <a:solidFill>
                  <a:srgbClr val="8888AA"/>
                </a:solidFill>
                <a:latin typeface="Calibri"/>
              </a:defRPr>
            </a:pPr>
            <a:r>
              <a:t>→  Zero manual data entry — feeds directly from POS</a:t>
            </a:r>
          </a:p>
        </p:txBody>
      </p:sp>
      <p:sp>
        <p:nvSpPr>
          <p:cNvPr id="14" name="TextBox 13"/>
          <p:cNvSpPr txBox="1"/>
          <p:nvPr/>
        </p:nvSpPr>
        <p:spPr>
          <a:xfrm>
            <a:off x="6400800" y="2880360"/>
            <a:ext cx="4846320" cy="411480"/>
          </a:xfrm>
          <a:prstGeom prst="rect">
            <a:avLst/>
          </a:prstGeom>
          <a:noFill/>
        </p:spPr>
        <p:txBody>
          <a:bodyPr wrap="square">
            <a:spAutoFit/>
          </a:bodyPr>
          <a:lstStyle/>
          <a:p>
            <a:pPr algn="l">
              <a:defRPr sz="1300" b="0">
                <a:solidFill>
                  <a:srgbClr val="8888AA"/>
                </a:solidFill>
                <a:latin typeface="Calibri"/>
              </a:defRPr>
            </a:pPr>
            <a:r>
              <a:t>→  Role-based views: store mgr, area head, HQ, CEO</a:t>
            </a:r>
          </a:p>
        </p:txBody>
      </p:sp>
      <p:sp>
        <p:nvSpPr>
          <p:cNvPr id="15" name="TextBox 14"/>
          <p:cNvSpPr txBox="1"/>
          <p:nvPr/>
        </p:nvSpPr>
        <p:spPr>
          <a:xfrm>
            <a:off x="6400800" y="3291840"/>
            <a:ext cx="4846320" cy="411480"/>
          </a:xfrm>
          <a:prstGeom prst="rect">
            <a:avLst/>
          </a:prstGeom>
          <a:noFill/>
        </p:spPr>
        <p:txBody>
          <a:bodyPr wrap="square">
            <a:spAutoFit/>
          </a:bodyPr>
          <a:lstStyle/>
          <a:p>
            <a:pPr algn="l">
              <a:defRPr sz="1300" b="0">
                <a:solidFill>
                  <a:srgbClr val="8888AA"/>
                </a:solidFill>
                <a:latin typeface="Calibri"/>
              </a:defRPr>
            </a:pPr>
            <a:r>
              <a:t>→  Mobile-first: CEO checks Sunday sales from Dubai</a:t>
            </a:r>
            <a:br/>
            <a:r>
              <a:t>     on Monday morning</a:t>
            </a:r>
          </a:p>
        </p:txBody>
      </p:sp>
      <p:sp>
        <p:nvSpPr>
          <p:cNvPr id="16" name="TextBox 15"/>
          <p:cNvSpPr txBox="1"/>
          <p:nvPr/>
        </p:nvSpPr>
        <p:spPr>
          <a:xfrm>
            <a:off x="6400800" y="3703320"/>
            <a:ext cx="4846320" cy="411480"/>
          </a:xfrm>
          <a:prstGeom prst="rect">
            <a:avLst/>
          </a:prstGeom>
          <a:noFill/>
        </p:spPr>
        <p:txBody>
          <a:bodyPr wrap="square">
            <a:spAutoFit/>
          </a:bodyPr>
          <a:lstStyle/>
          <a:p>
            <a:pPr algn="l">
              <a:defRPr sz="1300" b="0">
                <a:solidFill>
                  <a:srgbClr val="8888AA"/>
                </a:solidFill>
                <a:latin typeface="Calibri"/>
              </a:defRPr>
            </a:pPr>
            <a:r>
              <a:t>→  Auto-reports: daily, weekly, monthly — no spreadsheets</a:t>
            </a:r>
          </a:p>
        </p:txBody>
      </p:sp>
      <p:sp>
        <p:nvSpPr>
          <p:cNvPr id="17" name="TextBox 16"/>
          <p:cNvSpPr txBox="1"/>
          <p:nvPr/>
        </p:nvSpPr>
        <p:spPr>
          <a:xfrm>
            <a:off x="6400800" y="4114800"/>
            <a:ext cx="4846320" cy="411480"/>
          </a:xfrm>
          <a:prstGeom prst="rect">
            <a:avLst/>
          </a:prstGeom>
          <a:noFill/>
        </p:spPr>
        <p:txBody>
          <a:bodyPr wrap="square">
            <a:spAutoFit/>
          </a:bodyPr>
          <a:lstStyle/>
          <a:p>
            <a:pPr algn="l">
              <a:defRPr sz="1300" b="0">
                <a:solidFill>
                  <a:srgbClr val="8888AA"/>
                </a:solidFill>
                <a:latin typeface="Calibri"/>
              </a:defRPr>
            </a:pPr>
            <a:r>
              <a:t>→  Franchise owner portal with controlled visibility</a:t>
            </a:r>
          </a:p>
        </p:txBody>
      </p:sp>
      <p:sp>
        <p:nvSpPr>
          <p:cNvPr id="18" name="Rounded Rectangle 17"/>
          <p:cNvSpPr/>
          <p:nvPr/>
        </p:nvSpPr>
        <p:spPr>
          <a:xfrm>
            <a:off x="731520" y="4937760"/>
            <a:ext cx="10698480" cy="822960"/>
          </a:xfrm>
          <a:prstGeom prst="roundRect">
            <a:avLst/>
          </a:prstGeom>
          <a:solidFill>
            <a:srgbClr val="121220"/>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029200"/>
            <a:ext cx="9601200" cy="548640"/>
          </a:xfrm>
          <a:prstGeom prst="rect">
            <a:avLst/>
          </a:prstGeom>
          <a:noFill/>
        </p:spPr>
        <p:txBody>
          <a:bodyPr wrap="square">
            <a:spAutoFit/>
          </a:bodyPr>
          <a:lstStyle/>
          <a:p>
            <a:pPr algn="l">
              <a:defRPr sz="1400" b="0">
                <a:solidFill>
                  <a:srgbClr val="8888AA"/>
                </a:solidFill>
                <a:latin typeface="Calibri"/>
              </a:defRPr>
            </a:pPr>
            <a:r>
              <a:t>The #1 complaint from HQ teams: "I cannot get accurate store data without calling someone." This eliminates that — entirely.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400" b="1">
                <a:solidFill>
                  <a:srgbClr val="FFFFFF"/>
                </a:solidFill>
                <a:latin typeface="Calibri"/>
              </a:defRPr>
            </a:pPr>
            <a:r>
              <a:t>AI Fragrance Advisor — Turn Every Associate Into an Expert</a:t>
            </a:r>
          </a:p>
        </p:txBody>
      </p:sp>
      <p:sp>
        <p:nvSpPr>
          <p:cNvPr id="4" name="Rounded Rectangle 3"/>
          <p:cNvSpPr/>
          <p:nvPr/>
        </p:nvSpPr>
        <p:spPr>
          <a:xfrm>
            <a:off x="1371600" y="1920240"/>
            <a:ext cx="548640" cy="548640"/>
          </a:xfrm>
          <a:prstGeom prst="roundRect">
            <a:avLst/>
          </a:prstGeom>
          <a:solidFill>
            <a:srgbClr val="1616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965960"/>
            <a:ext cx="548640" cy="457200"/>
          </a:xfrm>
          <a:prstGeom prst="rect">
            <a:avLst/>
          </a:prstGeom>
          <a:noFill/>
        </p:spPr>
        <p:txBody>
          <a:bodyPr wrap="square">
            <a:spAutoFit/>
          </a:bodyPr>
          <a:lstStyle/>
          <a:p>
            <a:pPr algn="ctr">
              <a:defRPr sz="2000" b="1">
                <a:solidFill>
                  <a:srgbClr val="6C63FF"/>
                </a:solidFill>
                <a:latin typeface="Calibri"/>
              </a:defRPr>
            </a:pPr>
            <a:r>
              <a:t>1</a:t>
            </a:r>
          </a:p>
        </p:txBody>
      </p:sp>
      <p:sp>
        <p:nvSpPr>
          <p:cNvPr id="6" name="TextBox 5"/>
          <p:cNvSpPr txBox="1"/>
          <p:nvPr/>
        </p:nvSpPr>
        <p:spPr>
          <a:xfrm>
            <a:off x="2103120" y="1920240"/>
            <a:ext cx="2286000" cy="548640"/>
          </a:xfrm>
          <a:prstGeom prst="rect">
            <a:avLst/>
          </a:prstGeom>
          <a:noFill/>
        </p:spPr>
        <p:txBody>
          <a:bodyPr wrap="square">
            <a:spAutoFit/>
          </a:bodyPr>
          <a:lstStyle/>
          <a:p>
            <a:pPr algn="l">
              <a:defRPr sz="1300" b="0">
                <a:solidFill>
                  <a:srgbClr val="8888AA"/>
                </a:solidFill>
                <a:latin typeface="Calibri"/>
              </a:defRPr>
            </a:pPr>
            <a:r>
              <a:t>Customer shares</a:t>
            </a:r>
            <a:br/>
            <a:r>
              <a:t>preferences</a:t>
            </a:r>
          </a:p>
        </p:txBody>
      </p:sp>
      <p:sp>
        <p:nvSpPr>
          <p:cNvPr id="7" name="Rounded Rectangle 6"/>
          <p:cNvSpPr/>
          <p:nvPr/>
        </p:nvSpPr>
        <p:spPr>
          <a:xfrm>
            <a:off x="5029200" y="1920240"/>
            <a:ext cx="548640" cy="548640"/>
          </a:xfrm>
          <a:prstGeom prst="roundRect">
            <a:avLst/>
          </a:prstGeom>
          <a:solidFill>
            <a:srgbClr val="161622"/>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1965960"/>
            <a:ext cx="548640" cy="457200"/>
          </a:xfrm>
          <a:prstGeom prst="rect">
            <a:avLst/>
          </a:prstGeom>
          <a:noFill/>
        </p:spPr>
        <p:txBody>
          <a:bodyPr wrap="square">
            <a:spAutoFit/>
          </a:bodyPr>
          <a:lstStyle/>
          <a:p>
            <a:pPr algn="ctr">
              <a:defRPr sz="2000" b="1">
                <a:solidFill>
                  <a:srgbClr val="00D4AA"/>
                </a:solidFill>
                <a:latin typeface="Calibri"/>
              </a:defRPr>
            </a:pPr>
            <a:r>
              <a:t>2</a:t>
            </a:r>
          </a:p>
        </p:txBody>
      </p:sp>
      <p:sp>
        <p:nvSpPr>
          <p:cNvPr id="9" name="TextBox 8"/>
          <p:cNvSpPr txBox="1"/>
          <p:nvPr/>
        </p:nvSpPr>
        <p:spPr>
          <a:xfrm>
            <a:off x="5760720" y="1920240"/>
            <a:ext cx="2286000" cy="548640"/>
          </a:xfrm>
          <a:prstGeom prst="rect">
            <a:avLst/>
          </a:prstGeom>
          <a:noFill/>
        </p:spPr>
        <p:txBody>
          <a:bodyPr wrap="square">
            <a:spAutoFit/>
          </a:bodyPr>
          <a:lstStyle/>
          <a:p>
            <a:pPr algn="l">
              <a:defRPr sz="1300" b="0">
                <a:solidFill>
                  <a:srgbClr val="8888AA"/>
                </a:solidFill>
                <a:latin typeface="Calibri"/>
              </a:defRPr>
            </a:pPr>
            <a:r>
              <a:t>AI matches fragrance</a:t>
            </a:r>
            <a:br/>
            <a:r>
              <a:t>knowledge graph</a:t>
            </a:r>
          </a:p>
        </p:txBody>
      </p:sp>
      <p:sp>
        <p:nvSpPr>
          <p:cNvPr id="10" name="Rounded Rectangle 9"/>
          <p:cNvSpPr/>
          <p:nvPr/>
        </p:nvSpPr>
        <p:spPr>
          <a:xfrm>
            <a:off x="8686800" y="1920240"/>
            <a:ext cx="548640" cy="548640"/>
          </a:xfrm>
          <a:prstGeom prst="roundRect">
            <a:avLst/>
          </a:prstGeom>
          <a:solidFill>
            <a:srgbClr val="161622"/>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965960"/>
            <a:ext cx="548640" cy="457200"/>
          </a:xfrm>
          <a:prstGeom prst="rect">
            <a:avLst/>
          </a:prstGeom>
          <a:noFill/>
        </p:spPr>
        <p:txBody>
          <a:bodyPr wrap="square">
            <a:spAutoFit/>
          </a:bodyPr>
          <a:lstStyle/>
          <a:p>
            <a:pPr algn="ctr">
              <a:defRPr sz="2000" b="1">
                <a:solidFill>
                  <a:srgbClr val="F5A623"/>
                </a:solidFill>
                <a:latin typeface="Calibri"/>
              </a:defRPr>
            </a:pPr>
            <a:r>
              <a:t>3</a:t>
            </a:r>
          </a:p>
        </p:txBody>
      </p:sp>
      <p:sp>
        <p:nvSpPr>
          <p:cNvPr id="12" name="TextBox 11"/>
          <p:cNvSpPr txBox="1"/>
          <p:nvPr/>
        </p:nvSpPr>
        <p:spPr>
          <a:xfrm>
            <a:off x="9418320" y="1920240"/>
            <a:ext cx="2286000" cy="548640"/>
          </a:xfrm>
          <a:prstGeom prst="rect">
            <a:avLst/>
          </a:prstGeom>
          <a:noFill/>
        </p:spPr>
        <p:txBody>
          <a:bodyPr wrap="square">
            <a:spAutoFit/>
          </a:bodyPr>
          <a:lstStyle/>
          <a:p>
            <a:pPr algn="l">
              <a:defRPr sz="1300" b="0">
                <a:solidFill>
                  <a:srgbClr val="8888AA"/>
                </a:solidFill>
                <a:latin typeface="Calibri"/>
              </a:defRPr>
            </a:pPr>
            <a:r>
              <a:t>3-4 recommendations</a:t>
            </a:r>
            <a:br/>
            <a:r>
              <a:t>with talking points</a:t>
            </a:r>
          </a:p>
        </p:txBody>
      </p:sp>
      <p:sp>
        <p:nvSpPr>
          <p:cNvPr id="13" name="TextBox 12"/>
          <p:cNvSpPr txBox="1"/>
          <p:nvPr/>
        </p:nvSpPr>
        <p:spPr>
          <a:xfrm>
            <a:off x="731520" y="2926080"/>
            <a:ext cx="6400800" cy="365760"/>
          </a:xfrm>
          <a:prstGeom prst="rect">
            <a:avLst/>
          </a:prstGeom>
          <a:noFill/>
        </p:spPr>
        <p:txBody>
          <a:bodyPr wrap="square">
            <a:spAutoFit/>
          </a:bodyPr>
          <a:lstStyle/>
          <a:p>
            <a:pPr algn="l">
              <a:defRPr sz="1300" b="0">
                <a:solidFill>
                  <a:srgbClr val="8888AA"/>
                </a:solidFill>
                <a:latin typeface="Calibri"/>
              </a:defRPr>
            </a:pPr>
            <a:r>
              <a:t>→  Matches by occasion, intensity, budget, note preferences</a:t>
            </a:r>
          </a:p>
        </p:txBody>
      </p:sp>
      <p:sp>
        <p:nvSpPr>
          <p:cNvPr id="14" name="TextBox 13"/>
          <p:cNvSpPr txBox="1"/>
          <p:nvPr/>
        </p:nvSpPr>
        <p:spPr>
          <a:xfrm>
            <a:off x="731520" y="3310128"/>
            <a:ext cx="6400800" cy="365760"/>
          </a:xfrm>
          <a:prstGeom prst="rect">
            <a:avLst/>
          </a:prstGeom>
          <a:noFill/>
        </p:spPr>
        <p:txBody>
          <a:bodyPr wrap="square">
            <a:spAutoFit/>
          </a:bodyPr>
          <a:lstStyle/>
          <a:p>
            <a:pPr algn="l">
              <a:defRPr sz="1300" b="0">
                <a:solidFill>
                  <a:srgbClr val="8888AA"/>
                </a:solidFill>
                <a:latin typeface="Calibri"/>
              </a:defRPr>
            </a:pPr>
            <a:r>
              <a:t>→  Learns from purchase history: 'Customers who bought X love Y'</a:t>
            </a:r>
          </a:p>
        </p:txBody>
      </p:sp>
      <p:sp>
        <p:nvSpPr>
          <p:cNvPr id="15" name="TextBox 14"/>
          <p:cNvSpPr txBox="1"/>
          <p:nvPr/>
        </p:nvSpPr>
        <p:spPr>
          <a:xfrm>
            <a:off x="731520" y="3694176"/>
            <a:ext cx="6400800" cy="365760"/>
          </a:xfrm>
          <a:prstGeom prst="rect">
            <a:avLst/>
          </a:prstGeom>
          <a:noFill/>
        </p:spPr>
        <p:txBody>
          <a:bodyPr wrap="square">
            <a:spAutoFit/>
          </a:bodyPr>
          <a:lstStyle/>
          <a:p>
            <a:pPr algn="l">
              <a:defRPr sz="1300" b="0">
                <a:solidFill>
                  <a:srgbClr val="8888AA"/>
                </a:solidFill>
                <a:latin typeface="Calibri"/>
              </a:defRPr>
            </a:pPr>
            <a:r>
              <a:t>→  Cross-sell: attar buyer → suggest matching bakhoor</a:t>
            </a:r>
          </a:p>
        </p:txBody>
      </p:sp>
      <p:sp>
        <p:nvSpPr>
          <p:cNvPr id="16" name="TextBox 15"/>
          <p:cNvSpPr txBox="1"/>
          <p:nvPr/>
        </p:nvSpPr>
        <p:spPr>
          <a:xfrm>
            <a:off x="731520" y="4078224"/>
            <a:ext cx="6400800" cy="365760"/>
          </a:xfrm>
          <a:prstGeom prst="rect">
            <a:avLst/>
          </a:prstGeom>
          <a:noFill/>
        </p:spPr>
        <p:txBody>
          <a:bodyPr wrap="square">
            <a:spAutoFit/>
          </a:bodyPr>
          <a:lstStyle/>
          <a:p>
            <a:pPr algn="l">
              <a:defRPr sz="1300" b="0">
                <a:solidFill>
                  <a:srgbClr val="8888AA"/>
                </a:solidFill>
                <a:latin typeface="Calibri"/>
              </a:defRPr>
            </a:pPr>
            <a:r>
              <a:t>→  Handles full range: ₹375 body mist to ₹7,500+ luxury oud</a:t>
            </a:r>
          </a:p>
        </p:txBody>
      </p:sp>
      <p:sp>
        <p:nvSpPr>
          <p:cNvPr id="17" name="TextBox 16"/>
          <p:cNvSpPr txBox="1"/>
          <p:nvPr/>
        </p:nvSpPr>
        <p:spPr>
          <a:xfrm>
            <a:off x="731520" y="4462272"/>
            <a:ext cx="6400800" cy="365760"/>
          </a:xfrm>
          <a:prstGeom prst="rect">
            <a:avLst/>
          </a:prstGeom>
          <a:noFill/>
        </p:spPr>
        <p:txBody>
          <a:bodyPr wrap="square">
            <a:spAutoFit/>
          </a:bodyPr>
          <a:lstStyle/>
          <a:p>
            <a:pPr algn="l">
              <a:defRPr sz="1300" b="0">
                <a:solidFill>
                  <a:srgbClr val="8888AA"/>
                </a:solidFill>
                <a:latin typeface="Calibri"/>
              </a:defRPr>
            </a:pPr>
            <a:r>
              <a:t>→  Works on store tablet or associate's phone</a:t>
            </a:r>
          </a:p>
        </p:txBody>
      </p:sp>
      <p:sp>
        <p:nvSpPr>
          <p:cNvPr id="18" name="Rounded Rectangle 17"/>
          <p:cNvSpPr/>
          <p:nvPr/>
        </p:nvSpPr>
        <p:spPr>
          <a:xfrm>
            <a:off x="7772400" y="2926080"/>
            <a:ext cx="3657600" cy="18288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3200400"/>
            <a:ext cx="3657600" cy="731520"/>
          </a:xfrm>
          <a:prstGeom prst="rect">
            <a:avLst/>
          </a:prstGeom>
          <a:noFill/>
        </p:spPr>
        <p:txBody>
          <a:bodyPr wrap="square">
            <a:spAutoFit/>
          </a:bodyPr>
          <a:lstStyle/>
          <a:p>
            <a:pPr algn="ctr">
              <a:defRPr sz="4400" b="1">
                <a:solidFill>
                  <a:srgbClr val="00D4AA"/>
                </a:solidFill>
                <a:latin typeface="Calibri"/>
              </a:defRPr>
            </a:pPr>
            <a:r>
              <a:t>22-35%</a:t>
            </a:r>
          </a:p>
        </p:txBody>
      </p:sp>
      <p:sp>
        <p:nvSpPr>
          <p:cNvPr id="20" name="TextBox 19"/>
          <p:cNvSpPr txBox="1"/>
          <p:nvPr/>
        </p:nvSpPr>
        <p:spPr>
          <a:xfrm>
            <a:off x="7772400" y="3931920"/>
            <a:ext cx="3657600" cy="548640"/>
          </a:xfrm>
          <a:prstGeom prst="rect">
            <a:avLst/>
          </a:prstGeom>
          <a:noFill/>
        </p:spPr>
        <p:txBody>
          <a:bodyPr wrap="square">
            <a:spAutoFit/>
          </a:bodyPr>
          <a:lstStyle/>
          <a:p>
            <a:pPr algn="ctr">
              <a:defRPr sz="1300" b="0">
                <a:solidFill>
                  <a:srgbClr val="8888AA"/>
                </a:solidFill>
                <a:latin typeface="Calibri"/>
              </a:defRPr>
            </a:pPr>
            <a:r>
              <a:t>Increase in average</a:t>
            </a:r>
            <a:br/>
            <a:r>
              <a:t>basket size</a:t>
            </a:r>
          </a:p>
        </p:txBody>
      </p:sp>
      <p:sp>
        <p:nvSpPr>
          <p:cNvPr id="21" name="TextBox 20"/>
          <p:cNvSpPr txBox="1"/>
          <p:nvPr/>
        </p:nvSpPr>
        <p:spPr>
          <a:xfrm>
            <a:off x="731520" y="5303520"/>
            <a:ext cx="9144000" cy="457200"/>
          </a:xfrm>
          <a:prstGeom prst="rect">
            <a:avLst/>
          </a:prstGeom>
          <a:noFill/>
        </p:spPr>
        <p:txBody>
          <a:bodyPr wrap="square">
            <a:spAutoFit/>
          </a:bodyPr>
          <a:lstStyle/>
          <a:p>
            <a:pPr algn="l">
              <a:defRPr sz="1500" b="0">
                <a:solidFill>
                  <a:srgbClr val="F0F0F5"/>
                </a:solidFill>
                <a:latin typeface="Calibri"/>
              </a:defRPr>
            </a:pPr>
            <a:r>
              <a:t>Your best salesperson has 10 years of fragrance knowledge. This gives a new hire 80% of that on day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Know What Will Sell, Where, Before It Happens</a:t>
            </a:r>
          </a:p>
        </p:txBody>
      </p:sp>
      <p:sp>
        <p:nvSpPr>
          <p:cNvPr id="4" name="Rounded Rectangle 3"/>
          <p:cNvSpPr/>
          <p:nvPr/>
        </p:nvSpPr>
        <p:spPr>
          <a:xfrm>
            <a:off x="731520" y="1920240"/>
            <a:ext cx="502920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DEMAND FORECASTING</a:t>
            </a:r>
          </a:p>
        </p:txBody>
      </p:sp>
      <p:sp>
        <p:nvSpPr>
          <p:cNvPr id="6" name="TextBox 5"/>
          <p:cNvSpPr txBox="1"/>
          <p:nvPr/>
        </p:nvSpPr>
        <p:spPr>
          <a:xfrm>
            <a:off x="914400" y="2468880"/>
            <a:ext cx="4572000" cy="457200"/>
          </a:xfrm>
          <a:prstGeom prst="rect">
            <a:avLst/>
          </a:prstGeom>
          <a:noFill/>
        </p:spPr>
        <p:txBody>
          <a:bodyPr wrap="square">
            <a:spAutoFit/>
          </a:bodyPr>
          <a:lstStyle/>
          <a:p>
            <a:pPr algn="l">
              <a:defRPr sz="1300" b="0">
                <a:solidFill>
                  <a:srgbClr val="8888AA"/>
                </a:solidFill>
                <a:latin typeface="Calibri"/>
              </a:defRPr>
            </a:pPr>
            <a:r>
              <a:t>→  AI predicts SKU-level demand by store, by week</a:t>
            </a:r>
          </a:p>
        </p:txBody>
      </p:sp>
      <p:sp>
        <p:nvSpPr>
          <p:cNvPr id="7" name="TextBox 6"/>
          <p:cNvSpPr txBox="1"/>
          <p:nvPr/>
        </p:nvSpPr>
        <p:spPr>
          <a:xfrm>
            <a:off x="914400" y="2926080"/>
            <a:ext cx="4572000" cy="457200"/>
          </a:xfrm>
          <a:prstGeom prst="rect">
            <a:avLst/>
          </a:prstGeom>
          <a:noFill/>
        </p:spPr>
        <p:txBody>
          <a:bodyPr wrap="square">
            <a:spAutoFit/>
          </a:bodyPr>
          <a:lstStyle/>
          <a:p>
            <a:pPr algn="l">
              <a:defRPr sz="1300" b="0">
                <a:solidFill>
                  <a:srgbClr val="8888AA"/>
                </a:solidFill>
                <a:latin typeface="Calibri"/>
              </a:defRPr>
            </a:pPr>
            <a:r>
              <a:t>→  Factors: Eid, Diwali, wedding season, weather</a:t>
            </a:r>
          </a:p>
        </p:txBody>
      </p:sp>
      <p:sp>
        <p:nvSpPr>
          <p:cNvPr id="8" name="TextBox 7"/>
          <p:cNvSpPr txBox="1"/>
          <p:nvPr/>
        </p:nvSpPr>
        <p:spPr>
          <a:xfrm>
            <a:off x="914400" y="3383280"/>
            <a:ext cx="4572000" cy="457200"/>
          </a:xfrm>
          <a:prstGeom prst="rect">
            <a:avLst/>
          </a:prstGeom>
          <a:noFill/>
        </p:spPr>
        <p:txBody>
          <a:bodyPr wrap="square">
            <a:spAutoFit/>
          </a:bodyPr>
          <a:lstStyle/>
          <a:p>
            <a:pPr algn="l">
              <a:defRPr sz="1300" b="0">
                <a:solidFill>
                  <a:srgbClr val="8888AA"/>
                </a:solidFill>
                <a:latin typeface="Calibri"/>
              </a:defRPr>
            </a:pPr>
            <a:r>
              <a:t>→  Regional intelligence — South ≠ North ≠ Metro</a:t>
            </a:r>
          </a:p>
        </p:txBody>
      </p:sp>
      <p:sp>
        <p:nvSpPr>
          <p:cNvPr id="9" name="TextBox 8"/>
          <p:cNvSpPr txBox="1"/>
          <p:nvPr/>
        </p:nvSpPr>
        <p:spPr>
          <a:xfrm>
            <a:off x="914400" y="3840480"/>
            <a:ext cx="4572000" cy="457200"/>
          </a:xfrm>
          <a:prstGeom prst="rect">
            <a:avLst/>
          </a:prstGeom>
          <a:noFill/>
        </p:spPr>
        <p:txBody>
          <a:bodyPr wrap="square">
            <a:spAutoFit/>
          </a:bodyPr>
          <a:lstStyle/>
          <a:p>
            <a:pPr algn="l">
              <a:defRPr sz="1300" b="0">
                <a:solidFill>
                  <a:srgbClr val="8888AA"/>
                </a:solidFill>
                <a:latin typeface="Calibri"/>
              </a:defRPr>
            </a:pPr>
            <a:r>
              <a:t>→  Oud demand spikes 4-6 wks before Eid;</a:t>
            </a:r>
            <a:br/>
            <a:r>
              <a:t>     system flags at 8 weeks</a:t>
            </a:r>
          </a:p>
        </p:txBody>
      </p:sp>
      <p:sp>
        <p:nvSpPr>
          <p:cNvPr id="10" name="Rounded Rectangle 9"/>
          <p:cNvSpPr/>
          <p:nvPr/>
        </p:nvSpPr>
        <p:spPr>
          <a:xfrm>
            <a:off x="1371600" y="4206240"/>
            <a:ext cx="2286000" cy="54864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4206240"/>
            <a:ext cx="2286000" cy="274320"/>
          </a:xfrm>
          <a:prstGeom prst="rect">
            <a:avLst/>
          </a:prstGeom>
          <a:noFill/>
        </p:spPr>
        <p:txBody>
          <a:bodyPr wrap="square">
            <a:spAutoFit/>
          </a:bodyPr>
          <a:lstStyle/>
          <a:p>
            <a:pPr algn="ctr">
              <a:defRPr sz="2400" b="1">
                <a:solidFill>
                  <a:srgbClr val="00D4AA"/>
                </a:solidFill>
                <a:latin typeface="Calibri"/>
              </a:defRPr>
            </a:pPr>
            <a:r>
              <a:t>40%</a:t>
            </a:r>
          </a:p>
        </p:txBody>
      </p:sp>
      <p:sp>
        <p:nvSpPr>
          <p:cNvPr id="12" name="TextBox 11"/>
          <p:cNvSpPr txBox="1"/>
          <p:nvPr/>
        </p:nvSpPr>
        <p:spPr>
          <a:xfrm>
            <a:off x="1371600" y="4480560"/>
            <a:ext cx="2286000" cy="274320"/>
          </a:xfrm>
          <a:prstGeom prst="rect">
            <a:avLst/>
          </a:prstGeom>
          <a:noFill/>
        </p:spPr>
        <p:txBody>
          <a:bodyPr wrap="square">
            <a:spAutoFit/>
          </a:bodyPr>
          <a:lstStyle/>
          <a:p>
            <a:pPr algn="ctr">
              <a:defRPr sz="1100" b="0">
                <a:solidFill>
                  <a:srgbClr val="8888AA"/>
                </a:solidFill>
                <a:latin typeface="Calibri"/>
              </a:defRPr>
            </a:pPr>
            <a:r>
              <a:t>Stockout reduction</a:t>
            </a:r>
          </a:p>
        </p:txBody>
      </p:sp>
      <p:sp>
        <p:nvSpPr>
          <p:cNvPr id="13" name="Rounded Rectangle 12"/>
          <p:cNvSpPr/>
          <p:nvPr/>
        </p:nvSpPr>
        <p:spPr>
          <a:xfrm>
            <a:off x="6217920" y="1920240"/>
            <a:ext cx="521208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INVENTORY INTELLIGENCE</a:t>
            </a:r>
          </a:p>
        </p:txBody>
      </p:sp>
      <p:sp>
        <p:nvSpPr>
          <p:cNvPr id="15" name="TextBox 14"/>
          <p:cNvSpPr txBox="1"/>
          <p:nvPr/>
        </p:nvSpPr>
        <p:spPr>
          <a:xfrm>
            <a:off x="6400800" y="2468880"/>
            <a:ext cx="4846320" cy="457200"/>
          </a:xfrm>
          <a:prstGeom prst="rect">
            <a:avLst/>
          </a:prstGeom>
          <a:noFill/>
        </p:spPr>
        <p:txBody>
          <a:bodyPr wrap="square">
            <a:spAutoFit/>
          </a:bodyPr>
          <a:lstStyle/>
          <a:p>
            <a:pPr algn="l">
              <a:defRPr sz="1300" b="0">
                <a:solidFill>
                  <a:srgbClr val="8888AA"/>
                </a:solidFill>
                <a:latin typeface="Calibri"/>
              </a:defRPr>
            </a:pPr>
            <a:r>
              <a:t>→  Computer vision: phone camera scans shelf,</a:t>
            </a:r>
            <a:br/>
            <a:r>
              <a:t>     counts units, flags gaps</a:t>
            </a:r>
          </a:p>
        </p:txBody>
      </p:sp>
      <p:sp>
        <p:nvSpPr>
          <p:cNvPr id="16" name="TextBox 15"/>
          <p:cNvSpPr txBox="1"/>
          <p:nvPr/>
        </p:nvSpPr>
        <p:spPr>
          <a:xfrm>
            <a:off x="6400800" y="2926080"/>
            <a:ext cx="4846320" cy="457200"/>
          </a:xfrm>
          <a:prstGeom prst="rect">
            <a:avLst/>
          </a:prstGeom>
          <a:noFill/>
        </p:spPr>
        <p:txBody>
          <a:bodyPr wrap="square">
            <a:spAutoFit/>
          </a:bodyPr>
          <a:lstStyle/>
          <a:p>
            <a:pPr algn="l">
              <a:defRPr sz="1300" b="0">
                <a:solidFill>
                  <a:srgbClr val="8888AA"/>
                </a:solidFill>
                <a:latin typeface="Calibri"/>
              </a:defRPr>
            </a:pPr>
            <a:r>
              <a:t>→  Auto-replenishment triggers to warehouse</a:t>
            </a:r>
          </a:p>
        </p:txBody>
      </p:sp>
      <p:sp>
        <p:nvSpPr>
          <p:cNvPr id="17" name="TextBox 16"/>
          <p:cNvSpPr txBox="1"/>
          <p:nvPr/>
        </p:nvSpPr>
        <p:spPr>
          <a:xfrm>
            <a:off x="6400800" y="3383280"/>
            <a:ext cx="4846320" cy="457200"/>
          </a:xfrm>
          <a:prstGeom prst="rect">
            <a:avLst/>
          </a:prstGeom>
          <a:noFill/>
        </p:spPr>
        <p:txBody>
          <a:bodyPr wrap="square">
            <a:spAutoFit/>
          </a:bodyPr>
          <a:lstStyle/>
          <a:p>
            <a:pPr algn="l">
              <a:defRPr sz="1300" b="0">
                <a:solidFill>
                  <a:srgbClr val="8888AA"/>
                </a:solidFill>
                <a:latin typeface="Calibri"/>
              </a:defRPr>
            </a:pPr>
            <a:r>
              <a:t>→  Dead stock alerts: 'This SKU hasn't moved</a:t>
            </a:r>
            <a:br/>
            <a:r>
              <a:t>     in 60 days at 14 stores'</a:t>
            </a:r>
          </a:p>
        </p:txBody>
      </p:sp>
      <p:sp>
        <p:nvSpPr>
          <p:cNvPr id="18" name="TextBox 17"/>
          <p:cNvSpPr txBox="1"/>
          <p:nvPr/>
        </p:nvSpPr>
        <p:spPr>
          <a:xfrm>
            <a:off x="6400800" y="3840480"/>
            <a:ext cx="4846320" cy="457200"/>
          </a:xfrm>
          <a:prstGeom prst="rect">
            <a:avLst/>
          </a:prstGeom>
          <a:noFill/>
        </p:spPr>
        <p:txBody>
          <a:bodyPr wrap="square">
            <a:spAutoFit/>
          </a:bodyPr>
          <a:lstStyle/>
          <a:p>
            <a:pPr algn="l">
              <a:defRPr sz="1300" b="0">
                <a:solidFill>
                  <a:srgbClr val="8888AA"/>
                </a:solidFill>
                <a:latin typeface="Calibri"/>
              </a:defRPr>
            </a:pPr>
            <a:r>
              <a:t>→  Franchise stock visibility — every shelf, every store</a:t>
            </a:r>
          </a:p>
        </p:txBody>
      </p:sp>
      <p:sp>
        <p:nvSpPr>
          <p:cNvPr id="19" name="Rounded Rectangle 18"/>
          <p:cNvSpPr/>
          <p:nvPr/>
        </p:nvSpPr>
        <p:spPr>
          <a:xfrm>
            <a:off x="7315200" y="4206240"/>
            <a:ext cx="2286000" cy="54864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4206240"/>
            <a:ext cx="2286000" cy="274320"/>
          </a:xfrm>
          <a:prstGeom prst="rect">
            <a:avLst/>
          </a:prstGeom>
          <a:noFill/>
        </p:spPr>
        <p:txBody>
          <a:bodyPr wrap="square">
            <a:spAutoFit/>
          </a:bodyPr>
          <a:lstStyle/>
          <a:p>
            <a:pPr algn="ctr">
              <a:defRPr sz="2400" b="1">
                <a:solidFill>
                  <a:srgbClr val="00D4AA"/>
                </a:solidFill>
                <a:latin typeface="Calibri"/>
              </a:defRPr>
            </a:pPr>
            <a:r>
              <a:t>25%</a:t>
            </a:r>
          </a:p>
        </p:txBody>
      </p:sp>
      <p:sp>
        <p:nvSpPr>
          <p:cNvPr id="21" name="TextBox 20"/>
          <p:cNvSpPr txBox="1"/>
          <p:nvPr/>
        </p:nvSpPr>
        <p:spPr>
          <a:xfrm>
            <a:off x="7315200" y="4480560"/>
            <a:ext cx="2286000" cy="274320"/>
          </a:xfrm>
          <a:prstGeom prst="rect">
            <a:avLst/>
          </a:prstGeom>
          <a:noFill/>
        </p:spPr>
        <p:txBody>
          <a:bodyPr wrap="square">
            <a:spAutoFit/>
          </a:bodyPr>
          <a:lstStyle/>
          <a:p>
            <a:pPr algn="ctr">
              <a:defRPr sz="1100" b="0">
                <a:solidFill>
                  <a:srgbClr val="8888AA"/>
                </a:solidFill>
                <a:latin typeface="Calibri"/>
              </a:defRPr>
            </a:pPr>
            <a:r>
              <a:t>Overstock reduction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Your People Are Your Stores. Now You Can See.</a:t>
            </a:r>
          </a:p>
        </p:txBody>
      </p:sp>
      <p:sp>
        <p:nvSpPr>
          <p:cNvPr id="4" name="Rounded Rectangle 3"/>
          <p:cNvSpPr/>
          <p:nvPr/>
        </p:nvSpPr>
        <p:spPr>
          <a:xfrm>
            <a:off x="731520" y="1920240"/>
            <a:ext cx="5029200" cy="3200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PERFORMANCE INTELLIGENCE</a:t>
            </a:r>
          </a:p>
        </p:txBody>
      </p:sp>
      <p:sp>
        <p:nvSpPr>
          <p:cNvPr id="6" name="TextBox 5"/>
          <p:cNvSpPr txBox="1"/>
          <p:nvPr/>
        </p:nvSpPr>
        <p:spPr>
          <a:xfrm>
            <a:off x="914400" y="2468880"/>
            <a:ext cx="4572000" cy="502920"/>
          </a:xfrm>
          <a:prstGeom prst="rect">
            <a:avLst/>
          </a:prstGeom>
          <a:noFill/>
        </p:spPr>
        <p:txBody>
          <a:bodyPr wrap="square">
            <a:spAutoFit/>
          </a:bodyPr>
          <a:lstStyle/>
          <a:p>
            <a:pPr algn="l">
              <a:defRPr sz="1300" b="0">
                <a:solidFill>
                  <a:srgbClr val="8888AA"/>
                </a:solidFill>
                <a:latin typeface="Calibri"/>
              </a:defRPr>
            </a:pPr>
            <a:r>
              <a:t>→  Individual scorecards: sales/hour, conversion,</a:t>
            </a:r>
            <a:br/>
            <a:r>
              <a:t>     basket size, upsell rate</a:t>
            </a:r>
          </a:p>
        </p:txBody>
      </p:sp>
      <p:sp>
        <p:nvSpPr>
          <p:cNvPr id="7" name="TextBox 6"/>
          <p:cNvSpPr txBox="1"/>
          <p:nvPr/>
        </p:nvSpPr>
        <p:spPr>
          <a:xfrm>
            <a:off x="914400" y="2971800"/>
            <a:ext cx="4572000" cy="502920"/>
          </a:xfrm>
          <a:prstGeom prst="rect">
            <a:avLst/>
          </a:prstGeom>
          <a:noFill/>
        </p:spPr>
        <p:txBody>
          <a:bodyPr wrap="square">
            <a:spAutoFit/>
          </a:bodyPr>
          <a:lstStyle/>
          <a:p>
            <a:pPr algn="l">
              <a:defRPr sz="1300" b="0">
                <a:solidFill>
                  <a:srgbClr val="8888AA"/>
                </a:solidFill>
                <a:latin typeface="Calibri"/>
              </a:defRPr>
            </a:pPr>
            <a:r>
              <a:t>→  Store manager scorecards: team performance,</a:t>
            </a:r>
            <a:br/>
            <a:r>
              <a:t>     target attainment</a:t>
            </a:r>
          </a:p>
        </p:txBody>
      </p:sp>
      <p:sp>
        <p:nvSpPr>
          <p:cNvPr id="8" name="TextBox 7"/>
          <p:cNvSpPr txBox="1"/>
          <p:nvPr/>
        </p:nvSpPr>
        <p:spPr>
          <a:xfrm>
            <a:off x="914400" y="3474720"/>
            <a:ext cx="4572000" cy="502920"/>
          </a:xfrm>
          <a:prstGeom prst="rect">
            <a:avLst/>
          </a:prstGeom>
          <a:noFill/>
        </p:spPr>
        <p:txBody>
          <a:bodyPr wrap="square">
            <a:spAutoFit/>
          </a:bodyPr>
          <a:lstStyle/>
          <a:p>
            <a:pPr algn="l">
              <a:defRPr sz="1300" b="0">
                <a:solidFill>
                  <a:srgbClr val="8888AA"/>
                </a:solidFill>
                <a:latin typeface="Calibri"/>
              </a:defRPr>
            </a:pPr>
            <a:r>
              <a:t>→  AI coaching: 'Ravi at Store 47 — high conversion</a:t>
            </a:r>
            <a:br/>
            <a:r>
              <a:t>     but low basket. Coach on upselling.'</a:t>
            </a:r>
          </a:p>
        </p:txBody>
      </p:sp>
      <p:sp>
        <p:nvSpPr>
          <p:cNvPr id="9" name="TextBox 8"/>
          <p:cNvSpPr txBox="1"/>
          <p:nvPr/>
        </p:nvSpPr>
        <p:spPr>
          <a:xfrm>
            <a:off x="914400" y="3977640"/>
            <a:ext cx="4572000" cy="502920"/>
          </a:xfrm>
          <a:prstGeom prst="rect">
            <a:avLst/>
          </a:prstGeom>
          <a:noFill/>
        </p:spPr>
        <p:txBody>
          <a:bodyPr wrap="square">
            <a:spAutoFit/>
          </a:bodyPr>
          <a:lstStyle/>
          <a:p>
            <a:pPr algn="l">
              <a:defRPr sz="1300" b="0">
                <a:solidFill>
                  <a:srgbClr val="8888AA"/>
                </a:solidFill>
                <a:latin typeface="Calibri"/>
              </a:defRPr>
            </a:pPr>
            <a:r>
              <a:t>→  Gamification: leaderboards, streaks, benchmarking</a:t>
            </a:r>
          </a:p>
        </p:txBody>
      </p:sp>
      <p:sp>
        <p:nvSpPr>
          <p:cNvPr id="10" name="TextBox 9"/>
          <p:cNvSpPr txBox="1"/>
          <p:nvPr/>
        </p:nvSpPr>
        <p:spPr>
          <a:xfrm>
            <a:off x="914400" y="4480560"/>
            <a:ext cx="4572000" cy="502920"/>
          </a:xfrm>
          <a:prstGeom prst="rect">
            <a:avLst/>
          </a:prstGeom>
          <a:noFill/>
        </p:spPr>
        <p:txBody>
          <a:bodyPr wrap="square">
            <a:spAutoFit/>
          </a:bodyPr>
          <a:lstStyle/>
          <a:p>
            <a:pPr algn="l">
              <a:defRPr sz="1300" b="0">
                <a:solidFill>
                  <a:srgbClr val="8888AA"/>
                </a:solidFill>
                <a:latin typeface="Calibri"/>
              </a:defRPr>
            </a:pPr>
            <a:r>
              <a:t>→  Area-level: staffing issues vs location issues</a:t>
            </a:r>
          </a:p>
        </p:txBody>
      </p:sp>
      <p:sp>
        <p:nvSpPr>
          <p:cNvPr id="11" name="Rounded Rectangle 10"/>
          <p:cNvSpPr/>
          <p:nvPr/>
        </p:nvSpPr>
        <p:spPr>
          <a:xfrm>
            <a:off x="6217920" y="1920240"/>
            <a:ext cx="5212080" cy="3200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AI-POWERED TRAINING</a:t>
            </a:r>
          </a:p>
        </p:txBody>
      </p:sp>
      <p:sp>
        <p:nvSpPr>
          <p:cNvPr id="13" name="TextBox 12"/>
          <p:cNvSpPr txBox="1"/>
          <p:nvPr/>
        </p:nvSpPr>
        <p:spPr>
          <a:xfrm>
            <a:off x="6400800" y="2468880"/>
            <a:ext cx="4846320" cy="502920"/>
          </a:xfrm>
          <a:prstGeom prst="rect">
            <a:avLst/>
          </a:prstGeom>
          <a:noFill/>
        </p:spPr>
        <p:txBody>
          <a:bodyPr wrap="square">
            <a:spAutoFit/>
          </a:bodyPr>
          <a:lstStyle/>
          <a:p>
            <a:pPr algn="l">
              <a:defRPr sz="1300" b="0">
                <a:solidFill>
                  <a:srgbClr val="8888AA"/>
                </a:solidFill>
                <a:latin typeface="Calibri"/>
              </a:defRPr>
            </a:pPr>
            <a:r>
              <a:t>→  Replaces travel-heavy trainer model entirely</a:t>
            </a:r>
          </a:p>
        </p:txBody>
      </p:sp>
      <p:sp>
        <p:nvSpPr>
          <p:cNvPr id="14" name="TextBox 13"/>
          <p:cNvSpPr txBox="1"/>
          <p:nvPr/>
        </p:nvSpPr>
        <p:spPr>
          <a:xfrm>
            <a:off x="6400800" y="2971800"/>
            <a:ext cx="4846320" cy="502920"/>
          </a:xfrm>
          <a:prstGeom prst="rect">
            <a:avLst/>
          </a:prstGeom>
          <a:noFill/>
        </p:spPr>
        <p:txBody>
          <a:bodyPr wrap="square">
            <a:spAutoFit/>
          </a:bodyPr>
          <a:lstStyle/>
          <a:p>
            <a:pPr algn="l">
              <a:defRPr sz="1300" b="0">
                <a:solidFill>
                  <a:srgbClr val="8888AA"/>
                </a:solidFill>
                <a:latin typeface="Calibri"/>
              </a:defRPr>
            </a:pPr>
            <a:r>
              <a:t>→  Interactive modules: product knowledge,</a:t>
            </a:r>
            <a:br/>
            <a:r>
              <a:t>     POS operation, selling techniques</a:t>
            </a:r>
          </a:p>
        </p:txBody>
      </p:sp>
      <p:sp>
        <p:nvSpPr>
          <p:cNvPr id="15" name="TextBox 14"/>
          <p:cNvSpPr txBox="1"/>
          <p:nvPr/>
        </p:nvSpPr>
        <p:spPr>
          <a:xfrm>
            <a:off x="6400800" y="3474720"/>
            <a:ext cx="4846320" cy="502920"/>
          </a:xfrm>
          <a:prstGeom prst="rect">
            <a:avLst/>
          </a:prstGeom>
          <a:noFill/>
        </p:spPr>
        <p:txBody>
          <a:bodyPr wrap="square">
            <a:spAutoFit/>
          </a:bodyPr>
          <a:lstStyle/>
          <a:p>
            <a:pPr algn="l">
              <a:defRPr sz="1300" b="0">
                <a:solidFill>
                  <a:srgbClr val="8888AA"/>
                </a:solidFill>
                <a:latin typeface="Calibri"/>
              </a:defRPr>
            </a:pPr>
            <a:r>
              <a:t>→  AI tests if associate can recommend correctly</a:t>
            </a:r>
            <a:br/>
            <a:r>
              <a:t>     before they face a customer</a:t>
            </a:r>
          </a:p>
        </p:txBody>
      </p:sp>
      <p:sp>
        <p:nvSpPr>
          <p:cNvPr id="16" name="TextBox 15"/>
          <p:cNvSpPr txBox="1"/>
          <p:nvPr/>
        </p:nvSpPr>
        <p:spPr>
          <a:xfrm>
            <a:off x="6400800" y="3977640"/>
            <a:ext cx="4846320" cy="502920"/>
          </a:xfrm>
          <a:prstGeom prst="rect">
            <a:avLst/>
          </a:prstGeom>
          <a:noFill/>
        </p:spPr>
        <p:txBody>
          <a:bodyPr wrap="square">
            <a:spAutoFit/>
          </a:bodyPr>
          <a:lstStyle/>
          <a:p>
            <a:pPr algn="l">
              <a:defRPr sz="1300" b="0">
                <a:solidFill>
                  <a:srgbClr val="8888AA"/>
                </a:solidFill>
                <a:latin typeface="Calibri"/>
              </a:defRPr>
            </a:pPr>
            <a:r>
              <a:t>→  Fragrance family quizzes, note profiles,</a:t>
            </a:r>
            <a:br/>
            <a:r>
              <a:t>     customer scenarios</a:t>
            </a:r>
          </a:p>
        </p:txBody>
      </p:sp>
      <p:sp>
        <p:nvSpPr>
          <p:cNvPr id="17" name="Rounded Rectangle 16"/>
          <p:cNvSpPr/>
          <p:nvPr/>
        </p:nvSpPr>
        <p:spPr>
          <a:xfrm>
            <a:off x="7315200" y="4389120"/>
            <a:ext cx="3200400" cy="640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4389120"/>
            <a:ext cx="3200400" cy="320040"/>
          </a:xfrm>
          <a:prstGeom prst="rect">
            <a:avLst/>
          </a:prstGeom>
          <a:noFill/>
        </p:spPr>
        <p:txBody>
          <a:bodyPr wrap="square">
            <a:spAutoFit/>
          </a:bodyPr>
          <a:lstStyle/>
          <a:p>
            <a:pPr algn="ctr">
              <a:defRPr sz="2200" b="1">
                <a:solidFill>
                  <a:srgbClr val="00D4AA"/>
                </a:solidFill>
                <a:latin typeface="Calibri"/>
              </a:defRPr>
            </a:pPr>
            <a:r>
              <a:t>3 weeks → 5 days</a:t>
            </a:r>
          </a:p>
        </p:txBody>
      </p:sp>
      <p:sp>
        <p:nvSpPr>
          <p:cNvPr id="19" name="TextBox 18"/>
          <p:cNvSpPr txBox="1"/>
          <p:nvPr/>
        </p:nvSpPr>
        <p:spPr>
          <a:xfrm>
            <a:off x="7315200" y="4709160"/>
            <a:ext cx="3200400" cy="274320"/>
          </a:xfrm>
          <a:prstGeom prst="rect">
            <a:avLst/>
          </a:prstGeom>
          <a:noFill/>
        </p:spPr>
        <p:txBody>
          <a:bodyPr wrap="square">
            <a:spAutoFit/>
          </a:bodyPr>
          <a:lstStyle/>
          <a:p>
            <a:pPr algn="ctr">
              <a:defRPr sz="1100" b="0">
                <a:solidFill>
                  <a:srgbClr val="8888AA"/>
                </a:solidFill>
                <a:latin typeface="Calibri"/>
              </a:defRPr>
            </a:pPr>
            <a:r>
              <a:t>New hire ramp-up time</a:t>
            </a:r>
          </a:p>
        </p:txBody>
      </p:sp>
      <p:sp>
        <p:nvSpPr>
          <p:cNvPr id="20" name="TextBox 19"/>
          <p:cNvSpPr txBox="1"/>
          <p:nvPr/>
        </p:nvSpPr>
        <p:spPr>
          <a:xfrm>
            <a:off x="731520" y="5760720"/>
            <a:ext cx="10058400" cy="365760"/>
          </a:xfrm>
          <a:prstGeom prst="rect">
            <a:avLst/>
          </a:prstGeom>
          <a:noFill/>
        </p:spPr>
        <p:txBody>
          <a:bodyPr wrap="square">
            <a:spAutoFit/>
          </a:bodyPr>
          <a:lstStyle/>
          <a:p>
            <a:pPr algn="l">
              <a:defRPr sz="1200" b="0">
                <a:solidFill>
                  <a:srgbClr val="555577"/>
                </a:solidFill>
                <a:latin typeface="Calibri"/>
              </a:defRPr>
            </a:pPr>
            <a:r>
              <a:t>Dashboards are not surveillance — they make your best performers visible and your struggling performers get help earlier.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400" b="1">
                <a:solidFill>
                  <a:srgbClr val="FFFFFF"/>
                </a:solidFill>
                <a:latin typeface="Calibri"/>
              </a:defRPr>
            </a:pPr>
            <a:r>
              <a:t>Bettroi Academy — Where Your Team Levels Up</a:t>
            </a:r>
          </a:p>
        </p:txBody>
      </p:sp>
      <p:sp>
        <p:nvSpPr>
          <p:cNvPr id="4" name="Rounded Rectangle 3"/>
          <p:cNvSpPr/>
          <p:nvPr/>
        </p:nvSpPr>
        <p:spPr>
          <a:xfrm>
            <a:off x="731520" y="1920240"/>
            <a:ext cx="5029200" cy="3200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LEARNING PLATFORM</a:t>
            </a:r>
          </a:p>
        </p:txBody>
      </p:sp>
      <p:sp>
        <p:nvSpPr>
          <p:cNvPr id="6" name="TextBox 5"/>
          <p:cNvSpPr txBox="1"/>
          <p:nvPr/>
        </p:nvSpPr>
        <p:spPr>
          <a:xfrm>
            <a:off x="914400" y="2377440"/>
            <a:ext cx="4572000" cy="438912"/>
          </a:xfrm>
          <a:prstGeom prst="rect">
            <a:avLst/>
          </a:prstGeom>
          <a:noFill/>
        </p:spPr>
        <p:txBody>
          <a:bodyPr wrap="square">
            <a:spAutoFit/>
          </a:bodyPr>
          <a:lstStyle/>
          <a:p>
            <a:pPr algn="l">
              <a:defRPr sz="1200" b="0">
                <a:solidFill>
                  <a:srgbClr val="8888AA"/>
                </a:solidFill>
                <a:latin typeface="Calibri"/>
              </a:defRPr>
            </a:pPr>
            <a:r>
              <a:t>→  Micro-learning: bite-sized modules on product</a:t>
            </a:r>
            <a:br/>
            <a:r>
              <a:t>     knowledge, selling, and brand story</a:t>
            </a:r>
          </a:p>
        </p:txBody>
      </p:sp>
      <p:sp>
        <p:nvSpPr>
          <p:cNvPr id="7" name="TextBox 6"/>
          <p:cNvSpPr txBox="1"/>
          <p:nvPr/>
        </p:nvSpPr>
        <p:spPr>
          <a:xfrm>
            <a:off x="914400" y="2816352"/>
            <a:ext cx="4572000" cy="438912"/>
          </a:xfrm>
          <a:prstGeom prst="rect">
            <a:avLst/>
          </a:prstGeom>
          <a:noFill/>
        </p:spPr>
        <p:txBody>
          <a:bodyPr wrap="square">
            <a:spAutoFit/>
          </a:bodyPr>
          <a:lstStyle/>
          <a:p>
            <a:pPr algn="l">
              <a:defRPr sz="1200" b="0">
                <a:solidFill>
                  <a:srgbClr val="8888AA"/>
                </a:solidFill>
                <a:latin typeface="Calibri"/>
              </a:defRPr>
            </a:pPr>
            <a:r>
              <a:t>→  Role-based paths: new hire, store manager,</a:t>
            </a:r>
            <a:br/>
            <a:r>
              <a:t>     franchise partner, area head</a:t>
            </a:r>
          </a:p>
        </p:txBody>
      </p:sp>
      <p:sp>
        <p:nvSpPr>
          <p:cNvPr id="8" name="TextBox 7"/>
          <p:cNvSpPr txBox="1"/>
          <p:nvPr/>
        </p:nvSpPr>
        <p:spPr>
          <a:xfrm>
            <a:off x="914400" y="3255264"/>
            <a:ext cx="4572000" cy="438912"/>
          </a:xfrm>
          <a:prstGeom prst="rect">
            <a:avLst/>
          </a:prstGeom>
          <a:noFill/>
        </p:spPr>
        <p:txBody>
          <a:bodyPr wrap="square">
            <a:spAutoFit/>
          </a:bodyPr>
          <a:lstStyle/>
          <a:p>
            <a:pPr algn="l">
              <a:defRPr sz="1200" b="0">
                <a:solidFill>
                  <a:srgbClr val="8888AA"/>
                </a:solidFill>
                <a:latin typeface="Calibri"/>
              </a:defRPr>
            </a:pPr>
            <a:r>
              <a:t>→  AI-personalized: curriculum adapts to each</a:t>
            </a:r>
            <a:br/>
            <a:r>
              <a:t>     associate's performance gaps</a:t>
            </a:r>
          </a:p>
        </p:txBody>
      </p:sp>
      <p:sp>
        <p:nvSpPr>
          <p:cNvPr id="9" name="TextBox 8"/>
          <p:cNvSpPr txBox="1"/>
          <p:nvPr/>
        </p:nvSpPr>
        <p:spPr>
          <a:xfrm>
            <a:off x="914400" y="3694176"/>
            <a:ext cx="4572000" cy="438912"/>
          </a:xfrm>
          <a:prstGeom prst="rect">
            <a:avLst/>
          </a:prstGeom>
          <a:noFill/>
        </p:spPr>
        <p:txBody>
          <a:bodyPr wrap="square">
            <a:spAutoFit/>
          </a:bodyPr>
          <a:lstStyle/>
          <a:p>
            <a:pPr algn="l">
              <a:defRPr sz="1200" b="0">
                <a:solidFill>
                  <a:srgbClr val="8888AA"/>
                </a:solidFill>
                <a:latin typeface="Calibri"/>
              </a:defRPr>
            </a:pPr>
            <a:r>
              <a:t>→  Fragrance masterclasses: oud families, note</a:t>
            </a:r>
            <a:br/>
            <a:r>
              <a:t>     profiles, occasion pairing</a:t>
            </a:r>
          </a:p>
        </p:txBody>
      </p:sp>
      <p:sp>
        <p:nvSpPr>
          <p:cNvPr id="10" name="TextBox 9"/>
          <p:cNvSpPr txBox="1"/>
          <p:nvPr/>
        </p:nvSpPr>
        <p:spPr>
          <a:xfrm>
            <a:off x="914400" y="4133087"/>
            <a:ext cx="4572000" cy="438912"/>
          </a:xfrm>
          <a:prstGeom prst="rect">
            <a:avLst/>
          </a:prstGeom>
          <a:noFill/>
        </p:spPr>
        <p:txBody>
          <a:bodyPr wrap="square">
            <a:spAutoFit/>
          </a:bodyPr>
          <a:lstStyle/>
          <a:p>
            <a:pPr algn="l">
              <a:defRPr sz="1200" b="0">
                <a:solidFill>
                  <a:srgbClr val="8888AA"/>
                </a:solidFill>
                <a:latin typeface="Calibri"/>
              </a:defRPr>
            </a:pPr>
            <a:r>
              <a:t>→  Multi-language: Hindi, English, regional —</a:t>
            </a:r>
            <a:br/>
            <a:r>
              <a:t>     learn in the language you think in</a:t>
            </a:r>
          </a:p>
        </p:txBody>
      </p:sp>
      <p:sp>
        <p:nvSpPr>
          <p:cNvPr id="11" name="TextBox 10"/>
          <p:cNvSpPr txBox="1"/>
          <p:nvPr/>
        </p:nvSpPr>
        <p:spPr>
          <a:xfrm>
            <a:off x="914400" y="4572000"/>
            <a:ext cx="4572000" cy="438912"/>
          </a:xfrm>
          <a:prstGeom prst="rect">
            <a:avLst/>
          </a:prstGeom>
          <a:noFill/>
        </p:spPr>
        <p:txBody>
          <a:bodyPr wrap="square">
            <a:spAutoFit/>
          </a:bodyPr>
          <a:lstStyle/>
          <a:p>
            <a:pPr algn="l">
              <a:defRPr sz="1200" b="0">
                <a:solidFill>
                  <a:srgbClr val="8888AA"/>
                </a:solidFill>
                <a:latin typeface="Calibri"/>
              </a:defRPr>
            </a:pPr>
            <a:r>
              <a:t>→  Mobile-first: learn on the shop floor</a:t>
            </a:r>
            <a:br/>
            <a:r>
              <a:t>     between customers</a:t>
            </a:r>
          </a:p>
        </p:txBody>
      </p:sp>
      <p:sp>
        <p:nvSpPr>
          <p:cNvPr id="12" name="Rounded Rectangle 11"/>
          <p:cNvSpPr/>
          <p:nvPr/>
        </p:nvSpPr>
        <p:spPr>
          <a:xfrm>
            <a:off x="6217920" y="1920240"/>
            <a:ext cx="5212080" cy="3200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GAMIFICATION ENGINE</a:t>
            </a:r>
          </a:p>
        </p:txBody>
      </p:sp>
      <p:sp>
        <p:nvSpPr>
          <p:cNvPr id="14" name="TextBox 13"/>
          <p:cNvSpPr txBox="1"/>
          <p:nvPr/>
        </p:nvSpPr>
        <p:spPr>
          <a:xfrm>
            <a:off x="6400800" y="2377440"/>
            <a:ext cx="4846320" cy="438912"/>
          </a:xfrm>
          <a:prstGeom prst="rect">
            <a:avLst/>
          </a:prstGeom>
          <a:noFill/>
        </p:spPr>
        <p:txBody>
          <a:bodyPr wrap="square">
            <a:spAutoFit/>
          </a:bodyPr>
          <a:lstStyle/>
          <a:p>
            <a:pPr algn="l">
              <a:defRPr sz="1200" b="0">
                <a:solidFill>
                  <a:srgbClr val="8888AA"/>
                </a:solidFill>
                <a:latin typeface="Calibri"/>
              </a:defRPr>
            </a:pPr>
            <a:r>
              <a:t>→  XP points for modules, quizzes, daily</a:t>
            </a:r>
            <a:br/>
            <a:r>
              <a:t>     challenges, and real sales milestones</a:t>
            </a:r>
          </a:p>
        </p:txBody>
      </p:sp>
      <p:sp>
        <p:nvSpPr>
          <p:cNvPr id="15" name="TextBox 14"/>
          <p:cNvSpPr txBox="1"/>
          <p:nvPr/>
        </p:nvSpPr>
        <p:spPr>
          <a:xfrm>
            <a:off x="6400800" y="2816352"/>
            <a:ext cx="4846320" cy="438912"/>
          </a:xfrm>
          <a:prstGeom prst="rect">
            <a:avLst/>
          </a:prstGeom>
          <a:noFill/>
        </p:spPr>
        <p:txBody>
          <a:bodyPr wrap="square">
            <a:spAutoFit/>
          </a:bodyPr>
          <a:lstStyle/>
          <a:p>
            <a:pPr algn="l">
              <a:defRPr sz="1200" b="0">
                <a:solidFill>
                  <a:srgbClr val="8888AA"/>
                </a:solidFill>
                <a:latin typeface="Calibri"/>
              </a:defRPr>
            </a:pPr>
            <a:r>
              <a:t>→  Leaderboards: store-level, region-level,</a:t>
            </a:r>
            <a:br/>
            <a:r>
              <a:t>     and national rankings</a:t>
            </a:r>
          </a:p>
        </p:txBody>
      </p:sp>
      <p:sp>
        <p:nvSpPr>
          <p:cNvPr id="16" name="TextBox 15"/>
          <p:cNvSpPr txBox="1"/>
          <p:nvPr/>
        </p:nvSpPr>
        <p:spPr>
          <a:xfrm>
            <a:off x="6400800" y="3255264"/>
            <a:ext cx="4846320" cy="438912"/>
          </a:xfrm>
          <a:prstGeom prst="rect">
            <a:avLst/>
          </a:prstGeom>
          <a:noFill/>
        </p:spPr>
        <p:txBody>
          <a:bodyPr wrap="square">
            <a:spAutoFit/>
          </a:bodyPr>
          <a:lstStyle/>
          <a:p>
            <a:pPr algn="l">
              <a:defRPr sz="1200" b="0">
                <a:solidFill>
                  <a:srgbClr val="8888AA"/>
                </a:solidFill>
                <a:latin typeface="Calibri"/>
              </a:defRPr>
            </a:pPr>
            <a:r>
              <a:t>→  Badges &amp; certifications: 'Oud Expert',</a:t>
            </a:r>
            <a:br/>
            <a:r>
              <a:t>     'Top Seller', 'Customer Champion'</a:t>
            </a:r>
          </a:p>
        </p:txBody>
      </p:sp>
      <p:sp>
        <p:nvSpPr>
          <p:cNvPr id="17" name="TextBox 16"/>
          <p:cNvSpPr txBox="1"/>
          <p:nvPr/>
        </p:nvSpPr>
        <p:spPr>
          <a:xfrm>
            <a:off x="6400800" y="3694176"/>
            <a:ext cx="4846320" cy="438912"/>
          </a:xfrm>
          <a:prstGeom prst="rect">
            <a:avLst/>
          </a:prstGeom>
          <a:noFill/>
        </p:spPr>
        <p:txBody>
          <a:bodyPr wrap="square">
            <a:spAutoFit/>
          </a:bodyPr>
          <a:lstStyle/>
          <a:p>
            <a:pPr algn="l">
              <a:defRPr sz="1200" b="0">
                <a:solidFill>
                  <a:srgbClr val="8888AA"/>
                </a:solidFill>
                <a:latin typeface="Calibri"/>
              </a:defRPr>
            </a:pPr>
            <a:r>
              <a:t>→  Streak rewards: 7-day learning streaks</a:t>
            </a:r>
            <a:br/>
            <a:r>
              <a:t>     unlock perks and recognition</a:t>
            </a:r>
          </a:p>
        </p:txBody>
      </p:sp>
      <p:sp>
        <p:nvSpPr>
          <p:cNvPr id="18" name="TextBox 17"/>
          <p:cNvSpPr txBox="1"/>
          <p:nvPr/>
        </p:nvSpPr>
        <p:spPr>
          <a:xfrm>
            <a:off x="6400800" y="4133087"/>
            <a:ext cx="4846320" cy="438912"/>
          </a:xfrm>
          <a:prstGeom prst="rect">
            <a:avLst/>
          </a:prstGeom>
          <a:noFill/>
        </p:spPr>
        <p:txBody>
          <a:bodyPr wrap="square">
            <a:spAutoFit/>
          </a:bodyPr>
          <a:lstStyle/>
          <a:p>
            <a:pPr algn="l">
              <a:defRPr sz="1200" b="0">
                <a:solidFill>
                  <a:srgbClr val="8888AA"/>
                </a:solidFill>
                <a:latin typeface="Calibri"/>
              </a:defRPr>
            </a:pPr>
            <a:r>
              <a:t>→  Team battles: store vs. store competitions</a:t>
            </a:r>
            <a:br/>
            <a:r>
              <a:t>     tied to real KPIs</a:t>
            </a:r>
          </a:p>
        </p:txBody>
      </p:sp>
      <p:sp>
        <p:nvSpPr>
          <p:cNvPr id="19" name="TextBox 18"/>
          <p:cNvSpPr txBox="1"/>
          <p:nvPr/>
        </p:nvSpPr>
        <p:spPr>
          <a:xfrm>
            <a:off x="6400800" y="4572000"/>
            <a:ext cx="4846320" cy="438912"/>
          </a:xfrm>
          <a:prstGeom prst="rect">
            <a:avLst/>
          </a:prstGeom>
          <a:noFill/>
        </p:spPr>
        <p:txBody>
          <a:bodyPr wrap="square">
            <a:spAutoFit/>
          </a:bodyPr>
          <a:lstStyle/>
          <a:p>
            <a:pPr algn="l">
              <a:defRPr sz="1200" b="0">
                <a:solidFill>
                  <a:srgbClr val="8888AA"/>
                </a:solidFill>
                <a:latin typeface="Calibri"/>
              </a:defRPr>
            </a:pPr>
            <a:r>
              <a:t>→  Manager view: track team progress, identify</a:t>
            </a:r>
            <a:br/>
            <a:r>
              <a:t>     coaching opportunities</a:t>
            </a:r>
          </a:p>
        </p:txBody>
      </p:sp>
      <p:sp>
        <p:nvSpPr>
          <p:cNvPr id="20" name="Rounded Rectangle 19"/>
          <p:cNvSpPr/>
          <p:nvPr/>
        </p:nvSpPr>
        <p:spPr>
          <a:xfrm>
            <a:off x="731520" y="5394960"/>
            <a:ext cx="3383280" cy="640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394960"/>
            <a:ext cx="3383280" cy="320040"/>
          </a:xfrm>
          <a:prstGeom prst="rect">
            <a:avLst/>
          </a:prstGeom>
          <a:noFill/>
        </p:spPr>
        <p:txBody>
          <a:bodyPr wrap="square">
            <a:spAutoFit/>
          </a:bodyPr>
          <a:lstStyle/>
          <a:p>
            <a:pPr algn="ctr">
              <a:defRPr sz="2400" b="1">
                <a:solidFill>
                  <a:srgbClr val="00D4AA"/>
                </a:solidFill>
                <a:latin typeface="Calibri"/>
              </a:defRPr>
            </a:pPr>
            <a:r>
              <a:t>3x</a:t>
            </a:r>
          </a:p>
        </p:txBody>
      </p:sp>
      <p:sp>
        <p:nvSpPr>
          <p:cNvPr id="22" name="TextBox 21"/>
          <p:cNvSpPr txBox="1"/>
          <p:nvPr/>
        </p:nvSpPr>
        <p:spPr>
          <a:xfrm>
            <a:off x="731520" y="5715000"/>
            <a:ext cx="3383280" cy="274320"/>
          </a:xfrm>
          <a:prstGeom prst="rect">
            <a:avLst/>
          </a:prstGeom>
          <a:noFill/>
        </p:spPr>
        <p:txBody>
          <a:bodyPr wrap="square">
            <a:spAutoFit/>
          </a:bodyPr>
          <a:lstStyle/>
          <a:p>
            <a:pPr algn="ctr">
              <a:defRPr sz="1000" b="0">
                <a:solidFill>
                  <a:srgbClr val="8888AA"/>
                </a:solidFill>
                <a:latin typeface="Calibri"/>
              </a:defRPr>
            </a:pPr>
            <a:r>
              <a:t>Course completion rate vs</a:t>
            </a:r>
            <a:br/>
            <a:r>
              <a:t>traditional training</a:t>
            </a:r>
          </a:p>
        </p:txBody>
      </p:sp>
      <p:sp>
        <p:nvSpPr>
          <p:cNvPr id="23" name="Rounded Rectangle 22"/>
          <p:cNvSpPr/>
          <p:nvPr/>
        </p:nvSpPr>
        <p:spPr>
          <a:xfrm>
            <a:off x="4389120" y="5394960"/>
            <a:ext cx="3383280" cy="640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5394960"/>
            <a:ext cx="3383280" cy="320040"/>
          </a:xfrm>
          <a:prstGeom prst="rect">
            <a:avLst/>
          </a:prstGeom>
          <a:noFill/>
        </p:spPr>
        <p:txBody>
          <a:bodyPr wrap="square">
            <a:spAutoFit/>
          </a:bodyPr>
          <a:lstStyle/>
          <a:p>
            <a:pPr algn="ctr">
              <a:defRPr sz="2400" b="1">
                <a:solidFill>
                  <a:srgbClr val="00D4AA"/>
                </a:solidFill>
                <a:latin typeface="Calibri"/>
              </a:defRPr>
            </a:pPr>
            <a:r>
              <a:t>60%</a:t>
            </a:r>
          </a:p>
        </p:txBody>
      </p:sp>
      <p:sp>
        <p:nvSpPr>
          <p:cNvPr id="25" name="TextBox 24"/>
          <p:cNvSpPr txBox="1"/>
          <p:nvPr/>
        </p:nvSpPr>
        <p:spPr>
          <a:xfrm>
            <a:off x="4389120" y="5715000"/>
            <a:ext cx="3383280" cy="274320"/>
          </a:xfrm>
          <a:prstGeom prst="rect">
            <a:avLst/>
          </a:prstGeom>
          <a:noFill/>
        </p:spPr>
        <p:txBody>
          <a:bodyPr wrap="square">
            <a:spAutoFit/>
          </a:bodyPr>
          <a:lstStyle/>
          <a:p>
            <a:pPr algn="ctr">
              <a:defRPr sz="1000" b="0">
                <a:solidFill>
                  <a:srgbClr val="8888AA"/>
                </a:solidFill>
                <a:latin typeface="Calibri"/>
              </a:defRPr>
            </a:pPr>
            <a:r>
              <a:t>Knowledge retention</a:t>
            </a:r>
            <a:br/>
            <a:r>
              <a:t>improvement</a:t>
            </a:r>
          </a:p>
        </p:txBody>
      </p:sp>
      <p:sp>
        <p:nvSpPr>
          <p:cNvPr id="26" name="Rounded Rectangle 25"/>
          <p:cNvSpPr/>
          <p:nvPr/>
        </p:nvSpPr>
        <p:spPr>
          <a:xfrm>
            <a:off x="8046720" y="5394960"/>
            <a:ext cx="3383280" cy="640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5394960"/>
            <a:ext cx="3383280" cy="320040"/>
          </a:xfrm>
          <a:prstGeom prst="rect">
            <a:avLst/>
          </a:prstGeom>
          <a:noFill/>
        </p:spPr>
        <p:txBody>
          <a:bodyPr wrap="square">
            <a:spAutoFit/>
          </a:bodyPr>
          <a:lstStyle/>
          <a:p>
            <a:pPr algn="ctr">
              <a:defRPr sz="2400" b="1">
                <a:solidFill>
                  <a:srgbClr val="00D4AA"/>
                </a:solidFill>
                <a:latin typeface="Calibri"/>
              </a:defRPr>
            </a:pPr>
            <a:r>
              <a:t>85%</a:t>
            </a:r>
          </a:p>
        </p:txBody>
      </p:sp>
      <p:sp>
        <p:nvSpPr>
          <p:cNvPr id="28" name="TextBox 27"/>
          <p:cNvSpPr txBox="1"/>
          <p:nvPr/>
        </p:nvSpPr>
        <p:spPr>
          <a:xfrm>
            <a:off x="8046720" y="5715000"/>
            <a:ext cx="3383280" cy="274320"/>
          </a:xfrm>
          <a:prstGeom prst="rect">
            <a:avLst/>
          </a:prstGeom>
          <a:noFill/>
        </p:spPr>
        <p:txBody>
          <a:bodyPr wrap="square">
            <a:spAutoFit/>
          </a:bodyPr>
          <a:lstStyle/>
          <a:p>
            <a:pPr algn="ctr">
              <a:defRPr sz="1000" b="0">
                <a:solidFill>
                  <a:srgbClr val="8888AA"/>
                </a:solidFill>
                <a:latin typeface="Calibri"/>
              </a:defRPr>
            </a:pPr>
            <a:r>
              <a:t>Daily active engagement</a:t>
            </a:r>
            <a:br/>
            <a:r>
              <a:t>with gamification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Know Your Customer. Reach Them. Keep Them.</a:t>
            </a:r>
          </a:p>
        </p:txBody>
      </p:sp>
      <p:sp>
        <p:nvSpPr>
          <p:cNvPr id="4" name="Rounded Rectangle 3"/>
          <p:cNvSpPr/>
          <p:nvPr/>
        </p:nvSpPr>
        <p:spPr>
          <a:xfrm>
            <a:off x="731520" y="1920240"/>
            <a:ext cx="502920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CUSTOMER ANALYTICS</a:t>
            </a:r>
          </a:p>
        </p:txBody>
      </p:sp>
      <p:sp>
        <p:nvSpPr>
          <p:cNvPr id="6" name="TextBox 5"/>
          <p:cNvSpPr txBox="1"/>
          <p:nvPr/>
        </p:nvSpPr>
        <p:spPr>
          <a:xfrm>
            <a:off x="914400" y="2377440"/>
            <a:ext cx="4572000" cy="475488"/>
          </a:xfrm>
          <a:prstGeom prst="rect">
            <a:avLst/>
          </a:prstGeom>
          <a:noFill/>
        </p:spPr>
        <p:txBody>
          <a:bodyPr wrap="square">
            <a:spAutoFit/>
          </a:bodyPr>
          <a:lstStyle/>
          <a:p>
            <a:pPr algn="l">
              <a:defRPr sz="1200" b="0">
                <a:solidFill>
                  <a:srgbClr val="8888AA"/>
                </a:solidFill>
                <a:latin typeface="Calibri"/>
              </a:defRPr>
            </a:pPr>
            <a:r>
              <a:t>→  Unified profiles: retail, Shoppers Stop, Nykaa,</a:t>
            </a:r>
            <a:br/>
            <a:r>
              <a:t>     Amazon, airports</a:t>
            </a:r>
          </a:p>
        </p:txBody>
      </p:sp>
      <p:sp>
        <p:nvSpPr>
          <p:cNvPr id="7" name="TextBox 6"/>
          <p:cNvSpPr txBox="1"/>
          <p:nvPr/>
        </p:nvSpPr>
        <p:spPr>
          <a:xfrm>
            <a:off x="914400" y="2852928"/>
            <a:ext cx="4572000" cy="475488"/>
          </a:xfrm>
          <a:prstGeom prst="rect">
            <a:avLst/>
          </a:prstGeom>
          <a:noFill/>
        </p:spPr>
        <p:txBody>
          <a:bodyPr wrap="square">
            <a:spAutoFit/>
          </a:bodyPr>
          <a:lstStyle/>
          <a:p>
            <a:pPr algn="l">
              <a:defRPr sz="1200" b="0">
                <a:solidFill>
                  <a:srgbClr val="8888AA"/>
                </a:solidFill>
                <a:latin typeface="Calibri"/>
              </a:defRPr>
            </a:pPr>
            <a:r>
              <a:t>→  Segments: first-time, repeat, lapsed (90+ days),</a:t>
            </a:r>
            <a:br/>
            <a:r>
              <a:t>     high-value</a:t>
            </a:r>
          </a:p>
        </p:txBody>
      </p:sp>
      <p:sp>
        <p:nvSpPr>
          <p:cNvPr id="8" name="TextBox 7"/>
          <p:cNvSpPr txBox="1"/>
          <p:nvPr/>
        </p:nvSpPr>
        <p:spPr>
          <a:xfrm>
            <a:off x="914400" y="3328416"/>
            <a:ext cx="4572000" cy="475488"/>
          </a:xfrm>
          <a:prstGeom prst="rect">
            <a:avLst/>
          </a:prstGeom>
          <a:noFill/>
        </p:spPr>
        <p:txBody>
          <a:bodyPr wrap="square">
            <a:spAutoFit/>
          </a:bodyPr>
          <a:lstStyle/>
          <a:p>
            <a:pPr algn="l">
              <a:defRPr sz="1200" b="0">
                <a:solidFill>
                  <a:srgbClr val="8888AA"/>
                </a:solidFill>
                <a:latin typeface="Calibri"/>
              </a:defRPr>
            </a:pPr>
            <a:r>
              <a:t>→  'Buys new EDP every 3 months — trigger</a:t>
            </a:r>
            <a:br/>
            <a:r>
              <a:t>     reminder at 2.5 months'</a:t>
            </a:r>
          </a:p>
        </p:txBody>
      </p:sp>
      <p:sp>
        <p:nvSpPr>
          <p:cNvPr id="9" name="TextBox 8"/>
          <p:cNvSpPr txBox="1"/>
          <p:nvPr/>
        </p:nvSpPr>
        <p:spPr>
          <a:xfrm>
            <a:off x="914400" y="3803904"/>
            <a:ext cx="4572000" cy="475488"/>
          </a:xfrm>
          <a:prstGeom prst="rect">
            <a:avLst/>
          </a:prstGeom>
          <a:noFill/>
        </p:spPr>
        <p:txBody>
          <a:bodyPr wrap="square">
            <a:spAutoFit/>
          </a:bodyPr>
          <a:lstStyle/>
          <a:p>
            <a:pPr algn="l">
              <a:defRPr sz="1200" b="0">
                <a:solidFill>
                  <a:srgbClr val="8888AA"/>
                </a:solidFill>
                <a:latin typeface="Calibri"/>
              </a:defRPr>
            </a:pPr>
            <a:r>
              <a:t>→  LTV prediction: 'These 2,000 customers =</a:t>
            </a:r>
            <a:br/>
            <a:r>
              <a:t>     40% of next year's revenue'</a:t>
            </a:r>
          </a:p>
        </p:txBody>
      </p:sp>
      <p:sp>
        <p:nvSpPr>
          <p:cNvPr id="10" name="TextBox 9"/>
          <p:cNvSpPr txBox="1"/>
          <p:nvPr/>
        </p:nvSpPr>
        <p:spPr>
          <a:xfrm>
            <a:off x="914400" y="4279392"/>
            <a:ext cx="4572000" cy="475488"/>
          </a:xfrm>
          <a:prstGeom prst="rect">
            <a:avLst/>
          </a:prstGeom>
          <a:noFill/>
        </p:spPr>
        <p:txBody>
          <a:bodyPr wrap="square">
            <a:spAutoFit/>
          </a:bodyPr>
          <a:lstStyle/>
          <a:p>
            <a:pPr algn="l">
              <a:defRPr sz="1200" b="0">
                <a:solidFill>
                  <a:srgbClr val="8888AA"/>
                </a:solidFill>
                <a:latin typeface="Calibri"/>
              </a:defRPr>
            </a:pPr>
            <a:r>
              <a:t>→  Churn alerts: '142 high-value customers</a:t>
            </a:r>
            <a:br/>
            <a:r>
              <a:t>     silent for 60+ days'</a:t>
            </a:r>
          </a:p>
        </p:txBody>
      </p:sp>
      <p:sp>
        <p:nvSpPr>
          <p:cNvPr id="11" name="Rounded Rectangle 10"/>
          <p:cNvSpPr/>
          <p:nvPr/>
        </p:nvSpPr>
        <p:spPr>
          <a:xfrm>
            <a:off x="6217920" y="1920240"/>
            <a:ext cx="521208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WHATSAPP CRM &amp; CLIENTELING</a:t>
            </a:r>
          </a:p>
        </p:txBody>
      </p:sp>
      <p:sp>
        <p:nvSpPr>
          <p:cNvPr id="13" name="TextBox 12"/>
          <p:cNvSpPr txBox="1"/>
          <p:nvPr/>
        </p:nvSpPr>
        <p:spPr>
          <a:xfrm>
            <a:off x="6400800" y="2377440"/>
            <a:ext cx="4846320" cy="475488"/>
          </a:xfrm>
          <a:prstGeom prst="rect">
            <a:avLst/>
          </a:prstGeom>
          <a:noFill/>
        </p:spPr>
        <p:txBody>
          <a:bodyPr wrap="square">
            <a:spAutoFit/>
          </a:bodyPr>
          <a:lstStyle/>
          <a:p>
            <a:pPr algn="l">
              <a:defRPr sz="1200" b="0">
                <a:solidFill>
                  <a:srgbClr val="8888AA"/>
                </a:solidFill>
                <a:latin typeface="Calibri"/>
              </a:defRPr>
            </a:pPr>
            <a:r>
              <a:t>→  Auto messages: order confirm, restock</a:t>
            </a:r>
            <a:br/>
            <a:r>
              <a:t>     reminders, birthday offers</a:t>
            </a:r>
          </a:p>
        </p:txBody>
      </p:sp>
      <p:sp>
        <p:nvSpPr>
          <p:cNvPr id="14" name="TextBox 13"/>
          <p:cNvSpPr txBox="1"/>
          <p:nvPr/>
        </p:nvSpPr>
        <p:spPr>
          <a:xfrm>
            <a:off x="6400800" y="2852928"/>
            <a:ext cx="4846320" cy="475488"/>
          </a:xfrm>
          <a:prstGeom prst="rect">
            <a:avLst/>
          </a:prstGeom>
          <a:noFill/>
        </p:spPr>
        <p:txBody>
          <a:bodyPr wrap="square">
            <a:spAutoFit/>
          </a:bodyPr>
          <a:lstStyle/>
          <a:p>
            <a:pPr algn="l">
              <a:defRPr sz="1200" b="0">
                <a:solidFill>
                  <a:srgbClr val="8888AA"/>
                </a:solidFill>
                <a:latin typeface="Calibri"/>
              </a:defRPr>
            </a:pPr>
            <a:r>
              <a:t>→  Campaigns: 'Send Eid collection preview to</a:t>
            </a:r>
            <a:br/>
            <a:r>
              <a:t>     all oud buyers from last Eid'</a:t>
            </a:r>
          </a:p>
        </p:txBody>
      </p:sp>
      <p:sp>
        <p:nvSpPr>
          <p:cNvPr id="15" name="TextBox 14"/>
          <p:cNvSpPr txBox="1"/>
          <p:nvPr/>
        </p:nvSpPr>
        <p:spPr>
          <a:xfrm>
            <a:off x="6400800" y="3328416"/>
            <a:ext cx="4846320" cy="475488"/>
          </a:xfrm>
          <a:prstGeom prst="rect">
            <a:avLst/>
          </a:prstGeom>
          <a:noFill/>
        </p:spPr>
        <p:txBody>
          <a:bodyPr wrap="square">
            <a:spAutoFit/>
          </a:bodyPr>
          <a:lstStyle/>
          <a:p>
            <a:pPr algn="l">
              <a:defRPr sz="1200" b="0">
                <a:solidFill>
                  <a:srgbClr val="8888AA"/>
                </a:solidFill>
                <a:latin typeface="Calibri"/>
              </a:defRPr>
            </a:pPr>
            <a:r>
              <a:t>→  Clienteling: top 20 customers with prefs</a:t>
            </a:r>
            <a:br/>
            <a:r>
              <a:t>     &amp; next-buy suggestions</a:t>
            </a:r>
          </a:p>
        </p:txBody>
      </p:sp>
      <p:sp>
        <p:nvSpPr>
          <p:cNvPr id="16" name="TextBox 15"/>
          <p:cNvSpPr txBox="1"/>
          <p:nvPr/>
        </p:nvSpPr>
        <p:spPr>
          <a:xfrm>
            <a:off x="6400800" y="3803904"/>
            <a:ext cx="4846320" cy="475488"/>
          </a:xfrm>
          <a:prstGeom prst="rect">
            <a:avLst/>
          </a:prstGeom>
          <a:noFill/>
        </p:spPr>
        <p:txBody>
          <a:bodyPr wrap="square">
            <a:spAutoFit/>
          </a:bodyPr>
          <a:lstStyle/>
          <a:p>
            <a:pPr algn="l">
              <a:defRPr sz="1200" b="0">
                <a:solidFill>
                  <a:srgbClr val="8888AA"/>
                </a:solidFill>
                <a:latin typeface="Calibri"/>
              </a:defRPr>
            </a:pPr>
            <a:r>
              <a:t>→  Two-way chat: questions, repeat orders</a:t>
            </a:r>
            <a:br/>
            <a:r>
              <a:t>     via WhatsApp</a:t>
            </a:r>
          </a:p>
        </p:txBody>
      </p:sp>
      <p:sp>
        <p:nvSpPr>
          <p:cNvPr id="17" name="Rounded Rectangle 16"/>
          <p:cNvSpPr/>
          <p:nvPr/>
        </p:nvSpPr>
        <p:spPr>
          <a:xfrm>
            <a:off x="6217920" y="4389120"/>
            <a:ext cx="5212080" cy="1005840"/>
          </a:xfrm>
          <a:prstGeom prst="roundRect">
            <a:avLst/>
          </a:prstGeom>
          <a:solidFill>
            <a:srgbClr val="1A1810"/>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434840"/>
            <a:ext cx="4846320" cy="274320"/>
          </a:xfrm>
          <a:prstGeom prst="rect">
            <a:avLst/>
          </a:prstGeom>
          <a:noFill/>
        </p:spPr>
        <p:txBody>
          <a:bodyPr wrap="square">
            <a:spAutoFit/>
          </a:bodyPr>
          <a:lstStyle/>
          <a:p>
            <a:pPr algn="l">
              <a:defRPr sz="1100" b="0">
                <a:solidFill>
                  <a:srgbClr val="555577"/>
                </a:solidFill>
                <a:latin typeface="Calibri"/>
              </a:defRPr>
            </a:pPr>
            <a:r>
              <a:t>Customer buys 50ml EDP on Jan 15. On Mar 25:</a:t>
            </a:r>
          </a:p>
        </p:txBody>
      </p:sp>
      <p:sp>
        <p:nvSpPr>
          <p:cNvPr id="19" name="TextBox 18"/>
          <p:cNvSpPr txBox="1"/>
          <p:nvPr/>
        </p:nvSpPr>
        <p:spPr>
          <a:xfrm>
            <a:off x="6400800" y="4754880"/>
            <a:ext cx="4846320" cy="457200"/>
          </a:xfrm>
          <a:prstGeom prst="rect">
            <a:avLst/>
          </a:prstGeom>
          <a:noFill/>
        </p:spPr>
        <p:txBody>
          <a:bodyPr wrap="square">
            <a:spAutoFit/>
          </a:bodyPr>
          <a:lstStyle/>
          <a:p>
            <a:pPr algn="l">
              <a:defRPr sz="1200" b="1">
                <a:solidFill>
                  <a:srgbClr val="F0F0F5"/>
                </a:solidFill>
                <a:latin typeface="Calibri"/>
              </a:defRPr>
            </a:pPr>
            <a:r>
              <a:t>"Hi Priya, running low on Wisal? Reorder now + explore our spring collection. Reply YES to order."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AI MODULE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The Right Price. The Right Store. The Right Time.</a:t>
            </a:r>
          </a:p>
        </p:txBody>
      </p:sp>
      <p:sp>
        <p:nvSpPr>
          <p:cNvPr id="4" name="Rounded Rectangle 3"/>
          <p:cNvSpPr/>
          <p:nvPr/>
        </p:nvSpPr>
        <p:spPr>
          <a:xfrm>
            <a:off x="731520" y="2011680"/>
            <a:ext cx="5029200" cy="256032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3657600" cy="274320"/>
          </a:xfrm>
          <a:prstGeom prst="rect">
            <a:avLst/>
          </a:prstGeom>
          <a:noFill/>
        </p:spPr>
        <p:txBody>
          <a:bodyPr wrap="square">
            <a:spAutoFit/>
          </a:bodyPr>
          <a:lstStyle/>
          <a:p>
            <a:pPr algn="l">
              <a:defRPr sz="1100" b="1">
                <a:solidFill>
                  <a:srgbClr val="00D4AA"/>
                </a:solidFill>
                <a:latin typeface="Calibri"/>
              </a:defRPr>
            </a:pPr>
            <a:r>
              <a:t>INTELLIGENT PRICING</a:t>
            </a:r>
          </a:p>
        </p:txBody>
      </p:sp>
      <p:sp>
        <p:nvSpPr>
          <p:cNvPr id="6" name="TextBox 5"/>
          <p:cNvSpPr txBox="1"/>
          <p:nvPr/>
        </p:nvSpPr>
        <p:spPr>
          <a:xfrm>
            <a:off x="914400" y="2560320"/>
            <a:ext cx="4572000" cy="594360"/>
          </a:xfrm>
          <a:prstGeom prst="rect">
            <a:avLst/>
          </a:prstGeom>
          <a:noFill/>
        </p:spPr>
        <p:txBody>
          <a:bodyPr wrap="square">
            <a:spAutoFit/>
          </a:bodyPr>
          <a:lstStyle/>
          <a:p>
            <a:pPr algn="l">
              <a:defRPr sz="1300" b="0">
                <a:solidFill>
                  <a:srgbClr val="8888AA"/>
                </a:solidFill>
                <a:latin typeface="Calibri"/>
              </a:defRPr>
            </a:pPr>
            <a:r>
              <a:t>→  AI-recommended adjustments based on demand,</a:t>
            </a:r>
            <a:br/>
            <a:r>
              <a:t>     stock levels, competition</a:t>
            </a:r>
          </a:p>
        </p:txBody>
      </p:sp>
      <p:sp>
        <p:nvSpPr>
          <p:cNvPr id="7" name="TextBox 6"/>
          <p:cNvSpPr txBox="1"/>
          <p:nvPr/>
        </p:nvSpPr>
        <p:spPr>
          <a:xfrm>
            <a:off x="914400" y="3154679"/>
            <a:ext cx="4572000" cy="594360"/>
          </a:xfrm>
          <a:prstGeom prst="rect">
            <a:avLst/>
          </a:prstGeom>
          <a:noFill/>
        </p:spPr>
        <p:txBody>
          <a:bodyPr wrap="square">
            <a:spAutoFit/>
          </a:bodyPr>
          <a:lstStyle/>
          <a:p>
            <a:pPr algn="l">
              <a:defRPr sz="1300" b="0">
                <a:solidFill>
                  <a:srgbClr val="8888AA"/>
                </a:solidFill>
                <a:latin typeface="Calibri"/>
              </a:defRPr>
            </a:pPr>
            <a:r>
              <a:t>→  Markdown: '15% off moves volume; 30% destroys</a:t>
            </a:r>
            <a:br/>
            <a:r>
              <a:t>     margin — AI finds the sweet spot'</a:t>
            </a:r>
          </a:p>
        </p:txBody>
      </p:sp>
      <p:sp>
        <p:nvSpPr>
          <p:cNvPr id="8" name="TextBox 7"/>
          <p:cNvSpPr txBox="1"/>
          <p:nvPr/>
        </p:nvSpPr>
        <p:spPr>
          <a:xfrm>
            <a:off x="914400" y="3749039"/>
            <a:ext cx="4572000" cy="594360"/>
          </a:xfrm>
          <a:prstGeom prst="rect">
            <a:avLst/>
          </a:prstGeom>
          <a:noFill/>
        </p:spPr>
        <p:txBody>
          <a:bodyPr wrap="square">
            <a:spAutoFit/>
          </a:bodyPr>
          <a:lstStyle/>
          <a:p>
            <a:pPr algn="l">
              <a:defRPr sz="1300" b="0">
                <a:solidFill>
                  <a:srgbClr val="8888AA"/>
                </a:solidFill>
                <a:latin typeface="Calibri"/>
              </a:defRPr>
            </a:pPr>
            <a:r>
              <a:t>→  Festive: 'Eid gift sets — last year 20% off moved</a:t>
            </a:r>
            <a:br/>
            <a:r>
              <a:t>     3x volume, test 15% this year'</a:t>
            </a:r>
          </a:p>
        </p:txBody>
      </p:sp>
      <p:sp>
        <p:nvSpPr>
          <p:cNvPr id="9" name="Rounded Rectangle 8"/>
          <p:cNvSpPr/>
          <p:nvPr/>
        </p:nvSpPr>
        <p:spPr>
          <a:xfrm>
            <a:off x="6217920" y="2011680"/>
            <a:ext cx="5212080" cy="256032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103120"/>
            <a:ext cx="3657600" cy="274320"/>
          </a:xfrm>
          <a:prstGeom prst="rect">
            <a:avLst/>
          </a:prstGeom>
          <a:noFill/>
        </p:spPr>
        <p:txBody>
          <a:bodyPr wrap="square">
            <a:spAutoFit/>
          </a:bodyPr>
          <a:lstStyle/>
          <a:p>
            <a:pPr algn="l">
              <a:defRPr sz="1100" b="1">
                <a:solidFill>
                  <a:srgbClr val="F5A623"/>
                </a:solidFill>
                <a:latin typeface="Calibri"/>
              </a:defRPr>
            </a:pPr>
            <a:r>
              <a:t>CHANNEL GOVERNANCE</a:t>
            </a:r>
          </a:p>
        </p:txBody>
      </p:sp>
      <p:sp>
        <p:nvSpPr>
          <p:cNvPr id="11" name="TextBox 10"/>
          <p:cNvSpPr txBox="1"/>
          <p:nvPr/>
        </p:nvSpPr>
        <p:spPr>
          <a:xfrm>
            <a:off x="6400800" y="2560320"/>
            <a:ext cx="4846320" cy="594360"/>
          </a:xfrm>
          <a:prstGeom prst="rect">
            <a:avLst/>
          </a:prstGeom>
          <a:noFill/>
        </p:spPr>
        <p:txBody>
          <a:bodyPr wrap="square">
            <a:spAutoFit/>
          </a:bodyPr>
          <a:lstStyle/>
          <a:p>
            <a:pPr algn="l">
              <a:defRPr sz="1300" b="0">
                <a:solidFill>
                  <a:srgbClr val="8888AA"/>
                </a:solidFill>
                <a:latin typeface="Calibri"/>
              </a:defRPr>
            </a:pPr>
            <a:r>
              <a:t>→  Channel harmonization: retail = Nykaa = Amazon</a:t>
            </a:r>
          </a:p>
        </p:txBody>
      </p:sp>
      <p:sp>
        <p:nvSpPr>
          <p:cNvPr id="12" name="TextBox 11"/>
          <p:cNvSpPr txBox="1"/>
          <p:nvPr/>
        </p:nvSpPr>
        <p:spPr>
          <a:xfrm>
            <a:off x="6400800" y="3154679"/>
            <a:ext cx="4846320" cy="594360"/>
          </a:xfrm>
          <a:prstGeom prst="rect">
            <a:avLst/>
          </a:prstGeom>
          <a:noFill/>
        </p:spPr>
        <p:txBody>
          <a:bodyPr wrap="square">
            <a:spAutoFit/>
          </a:bodyPr>
          <a:lstStyle/>
          <a:p>
            <a:pPr algn="l">
              <a:defRPr sz="1300" b="0">
                <a:solidFill>
                  <a:srgbClr val="8888AA"/>
                </a:solidFill>
                <a:latin typeface="Calibri"/>
              </a:defRPr>
            </a:pPr>
            <a:r>
              <a:t>→  Franchise pricing governance: floors &amp; ceilings</a:t>
            </a:r>
            <a:br/>
            <a:r>
              <a:t>     with controlled flexibility</a:t>
            </a:r>
          </a:p>
        </p:txBody>
      </p:sp>
      <p:sp>
        <p:nvSpPr>
          <p:cNvPr id="13" name="TextBox 12"/>
          <p:cNvSpPr txBox="1"/>
          <p:nvPr/>
        </p:nvSpPr>
        <p:spPr>
          <a:xfrm>
            <a:off x="6400800" y="3749039"/>
            <a:ext cx="4846320" cy="594360"/>
          </a:xfrm>
          <a:prstGeom prst="rect">
            <a:avLst/>
          </a:prstGeom>
          <a:noFill/>
        </p:spPr>
        <p:txBody>
          <a:bodyPr wrap="square">
            <a:spAutoFit/>
          </a:bodyPr>
          <a:lstStyle/>
          <a:p>
            <a:pPr algn="l">
              <a:defRPr sz="1300" b="0">
                <a:solidFill>
                  <a:srgbClr val="8888AA"/>
                </a:solidFill>
                <a:latin typeface="Calibri"/>
              </a:defRPr>
            </a:pPr>
            <a:r>
              <a:t>→  Alert on marketplace price drift</a:t>
            </a:r>
          </a:p>
        </p:txBody>
      </p:sp>
      <p:sp>
        <p:nvSpPr>
          <p:cNvPr id="14" name="Rounded Rectangle 13"/>
          <p:cNvSpPr/>
          <p:nvPr/>
        </p:nvSpPr>
        <p:spPr>
          <a:xfrm>
            <a:off x="731520" y="4846320"/>
            <a:ext cx="5029200" cy="914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92040"/>
            <a:ext cx="5029200" cy="457200"/>
          </a:xfrm>
          <a:prstGeom prst="rect">
            <a:avLst/>
          </a:prstGeom>
          <a:noFill/>
        </p:spPr>
        <p:txBody>
          <a:bodyPr wrap="square">
            <a:spAutoFit/>
          </a:bodyPr>
          <a:lstStyle/>
          <a:p>
            <a:pPr algn="ctr">
              <a:defRPr sz="3600" b="1">
                <a:solidFill>
                  <a:srgbClr val="00D4AA"/>
                </a:solidFill>
                <a:latin typeface="Calibri"/>
              </a:defRPr>
            </a:pPr>
            <a:r>
              <a:t>3-8%</a:t>
            </a:r>
          </a:p>
        </p:txBody>
      </p:sp>
      <p:sp>
        <p:nvSpPr>
          <p:cNvPr id="16" name="TextBox 15"/>
          <p:cNvSpPr txBox="1"/>
          <p:nvPr/>
        </p:nvSpPr>
        <p:spPr>
          <a:xfrm>
            <a:off x="731520" y="5349240"/>
            <a:ext cx="5029200" cy="274320"/>
          </a:xfrm>
          <a:prstGeom prst="rect">
            <a:avLst/>
          </a:prstGeom>
          <a:noFill/>
        </p:spPr>
        <p:txBody>
          <a:bodyPr wrap="square">
            <a:spAutoFit/>
          </a:bodyPr>
          <a:lstStyle/>
          <a:p>
            <a:pPr algn="ctr">
              <a:defRPr sz="1300" b="0">
                <a:solidFill>
                  <a:srgbClr val="8888AA"/>
                </a:solidFill>
                <a:latin typeface="Calibri"/>
              </a:defRPr>
            </a:pPr>
            <a:r>
              <a:t>Margin improvement</a:t>
            </a:r>
          </a:p>
        </p:txBody>
      </p:sp>
      <p:sp>
        <p:nvSpPr>
          <p:cNvPr id="17" name="Rounded Rectangle 16"/>
          <p:cNvSpPr/>
          <p:nvPr/>
        </p:nvSpPr>
        <p:spPr>
          <a:xfrm>
            <a:off x="6217920" y="4846320"/>
            <a:ext cx="5212080" cy="91440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4892040"/>
            <a:ext cx="5212080" cy="457200"/>
          </a:xfrm>
          <a:prstGeom prst="rect">
            <a:avLst/>
          </a:prstGeom>
          <a:noFill/>
        </p:spPr>
        <p:txBody>
          <a:bodyPr wrap="square">
            <a:spAutoFit/>
          </a:bodyPr>
          <a:lstStyle/>
          <a:p>
            <a:pPr algn="ctr">
              <a:defRPr sz="3600" b="1">
                <a:solidFill>
                  <a:srgbClr val="00D4AA"/>
                </a:solidFill>
                <a:latin typeface="Calibri"/>
              </a:defRPr>
            </a:pPr>
            <a:r>
              <a:t>Zero</a:t>
            </a:r>
          </a:p>
        </p:txBody>
      </p:sp>
      <p:sp>
        <p:nvSpPr>
          <p:cNvPr id="19" name="TextBox 18"/>
          <p:cNvSpPr txBox="1"/>
          <p:nvPr/>
        </p:nvSpPr>
        <p:spPr>
          <a:xfrm>
            <a:off x="6217920" y="5349240"/>
            <a:ext cx="5212080" cy="274320"/>
          </a:xfrm>
          <a:prstGeom prst="rect">
            <a:avLst/>
          </a:prstGeom>
          <a:noFill/>
        </p:spPr>
        <p:txBody>
          <a:bodyPr wrap="square">
            <a:spAutoFit/>
          </a:bodyPr>
          <a:lstStyle/>
          <a:p>
            <a:pPr algn="ctr">
              <a:defRPr sz="1300" b="0">
                <a:solidFill>
                  <a:srgbClr val="8888AA"/>
                </a:solidFill>
                <a:latin typeface="Calibri"/>
              </a:defRPr>
            </a:pPr>
            <a:r>
              <a:t>Channel price conflicts</a:t>
            </a:r>
          </a:p>
        </p:txBody>
      </p:sp>
      <p:sp>
        <p:nvSpPr>
          <p:cNvPr id="20" name="TextBox 19"/>
          <p:cNvSpPr txBox="1"/>
          <p:nvPr/>
        </p:nvSpPr>
        <p:spPr>
          <a:xfrm>
            <a:off x="731520" y="6035040"/>
            <a:ext cx="10058400" cy="365760"/>
          </a:xfrm>
          <a:prstGeom prst="rect">
            <a:avLst/>
          </a:prstGeom>
          <a:noFill/>
        </p:spPr>
        <p:txBody>
          <a:bodyPr wrap="square">
            <a:spAutoFit/>
          </a:bodyPr>
          <a:lstStyle/>
          <a:p>
            <a:pPr algn="l">
              <a:defRPr sz="1200" b="0">
                <a:solidFill>
                  <a:srgbClr val="555577"/>
                </a:solidFill>
                <a:latin typeface="Calibri"/>
              </a:defRPr>
            </a:pPr>
            <a:r>
              <a:t>Most retailers over-discount because they lack price elasticity data. The AI finds the discount that moves inventory without destroying margin.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6C63FF"/>
                </a:solidFill>
                <a:latin typeface="Calibri"/>
              </a:defRPr>
            </a:pPr>
            <a:r>
              <a:t>TECHNOLOGY</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400" b="1">
                <a:solidFill>
                  <a:srgbClr val="FFFFFF"/>
                </a:solidFill>
                <a:latin typeface="Calibri"/>
              </a:defRPr>
            </a:pPr>
            <a:r>
              <a:t>9 AI Engines. One Platform. Compounding Intelligence.</a:t>
            </a:r>
          </a:p>
        </p:txBody>
      </p:sp>
      <p:sp>
        <p:nvSpPr>
          <p:cNvPr id="4" name="Rounded Rectangle 3"/>
          <p:cNvSpPr/>
          <p:nvPr/>
        </p:nvSpPr>
        <p:spPr>
          <a:xfrm>
            <a:off x="731520" y="192024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6" name="TextBox 5"/>
          <p:cNvSpPr txBox="1"/>
          <p:nvPr/>
        </p:nvSpPr>
        <p:spPr>
          <a:xfrm>
            <a:off x="1371600" y="1993392"/>
            <a:ext cx="2560320" cy="274320"/>
          </a:xfrm>
          <a:prstGeom prst="rect">
            <a:avLst/>
          </a:prstGeom>
          <a:noFill/>
        </p:spPr>
        <p:txBody>
          <a:bodyPr wrap="square">
            <a:spAutoFit/>
          </a:bodyPr>
          <a:lstStyle/>
          <a:p>
            <a:pPr algn="l">
              <a:defRPr sz="1300" b="1">
                <a:solidFill>
                  <a:srgbClr val="6C63FF"/>
                </a:solidFill>
                <a:latin typeface="Calibri"/>
              </a:defRPr>
            </a:pPr>
            <a:r>
              <a:t>FragranceAI</a:t>
            </a:r>
          </a:p>
        </p:txBody>
      </p:sp>
      <p:sp>
        <p:nvSpPr>
          <p:cNvPr id="7" name="TextBox 6"/>
          <p:cNvSpPr txBox="1"/>
          <p:nvPr/>
        </p:nvSpPr>
        <p:spPr>
          <a:xfrm>
            <a:off x="1371600" y="2286000"/>
            <a:ext cx="2651760" cy="365760"/>
          </a:xfrm>
          <a:prstGeom prst="rect">
            <a:avLst/>
          </a:prstGeom>
          <a:noFill/>
        </p:spPr>
        <p:txBody>
          <a:bodyPr wrap="square">
            <a:spAutoFit/>
          </a:bodyPr>
          <a:lstStyle/>
          <a:p>
            <a:pPr algn="l">
              <a:defRPr sz="1000" b="0">
                <a:solidFill>
                  <a:srgbClr val="8888AA"/>
                </a:solidFill>
                <a:latin typeface="Calibri"/>
              </a:defRPr>
            </a:pPr>
            <a:r>
              <a:t>Personalized scent recommendations from purchase + preference data</a:t>
            </a:r>
          </a:p>
        </p:txBody>
      </p:sp>
      <p:sp>
        <p:nvSpPr>
          <p:cNvPr id="8" name="Rounded Rectangle 7"/>
          <p:cNvSpPr/>
          <p:nvPr/>
        </p:nvSpPr>
        <p:spPr>
          <a:xfrm>
            <a:off x="4480559" y="192024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6596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10" name="TextBox 9"/>
          <p:cNvSpPr txBox="1"/>
          <p:nvPr/>
        </p:nvSpPr>
        <p:spPr>
          <a:xfrm>
            <a:off x="5120640" y="1993392"/>
            <a:ext cx="2560320" cy="274320"/>
          </a:xfrm>
          <a:prstGeom prst="rect">
            <a:avLst/>
          </a:prstGeom>
          <a:noFill/>
        </p:spPr>
        <p:txBody>
          <a:bodyPr wrap="square">
            <a:spAutoFit/>
          </a:bodyPr>
          <a:lstStyle/>
          <a:p>
            <a:pPr algn="l">
              <a:defRPr sz="1300" b="1">
                <a:solidFill>
                  <a:srgbClr val="00D4AA"/>
                </a:solidFill>
                <a:latin typeface="Calibri"/>
              </a:defRPr>
            </a:pPr>
            <a:r>
              <a:t>DemandAI</a:t>
            </a:r>
          </a:p>
        </p:txBody>
      </p:sp>
      <p:sp>
        <p:nvSpPr>
          <p:cNvPr id="11" name="TextBox 10"/>
          <p:cNvSpPr txBox="1"/>
          <p:nvPr/>
        </p:nvSpPr>
        <p:spPr>
          <a:xfrm>
            <a:off x="5120640" y="2286000"/>
            <a:ext cx="2651760" cy="365760"/>
          </a:xfrm>
          <a:prstGeom prst="rect">
            <a:avLst/>
          </a:prstGeom>
          <a:noFill/>
        </p:spPr>
        <p:txBody>
          <a:bodyPr wrap="square">
            <a:spAutoFit/>
          </a:bodyPr>
          <a:lstStyle/>
          <a:p>
            <a:pPr algn="l">
              <a:defRPr sz="1000" b="0">
                <a:solidFill>
                  <a:srgbClr val="8888AA"/>
                </a:solidFill>
                <a:latin typeface="Calibri"/>
              </a:defRPr>
            </a:pPr>
            <a:r>
              <a:t>Predictive demand forecasting with cultural event awareness</a:t>
            </a:r>
          </a:p>
        </p:txBody>
      </p:sp>
      <p:sp>
        <p:nvSpPr>
          <p:cNvPr id="12" name="Rounded Rectangle 11"/>
          <p:cNvSpPr/>
          <p:nvPr/>
        </p:nvSpPr>
        <p:spPr>
          <a:xfrm>
            <a:off x="8229600" y="192024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96596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14" name="TextBox 13"/>
          <p:cNvSpPr txBox="1"/>
          <p:nvPr/>
        </p:nvSpPr>
        <p:spPr>
          <a:xfrm>
            <a:off x="8869680" y="1993392"/>
            <a:ext cx="2560320" cy="274320"/>
          </a:xfrm>
          <a:prstGeom prst="rect">
            <a:avLst/>
          </a:prstGeom>
          <a:noFill/>
        </p:spPr>
        <p:txBody>
          <a:bodyPr wrap="square">
            <a:spAutoFit/>
          </a:bodyPr>
          <a:lstStyle/>
          <a:p>
            <a:pPr algn="l">
              <a:defRPr sz="1300" b="1">
                <a:solidFill>
                  <a:srgbClr val="F5A623"/>
                </a:solidFill>
                <a:latin typeface="Calibri"/>
              </a:defRPr>
            </a:pPr>
            <a:r>
              <a:t>VisionAI</a:t>
            </a:r>
          </a:p>
        </p:txBody>
      </p:sp>
      <p:sp>
        <p:nvSpPr>
          <p:cNvPr id="15" name="TextBox 14"/>
          <p:cNvSpPr txBox="1"/>
          <p:nvPr/>
        </p:nvSpPr>
        <p:spPr>
          <a:xfrm>
            <a:off x="8869680" y="2286000"/>
            <a:ext cx="2651760" cy="365760"/>
          </a:xfrm>
          <a:prstGeom prst="rect">
            <a:avLst/>
          </a:prstGeom>
          <a:noFill/>
        </p:spPr>
        <p:txBody>
          <a:bodyPr wrap="square">
            <a:spAutoFit/>
          </a:bodyPr>
          <a:lstStyle/>
          <a:p>
            <a:pPr algn="l">
              <a:defRPr sz="1000" b="0">
                <a:solidFill>
                  <a:srgbClr val="8888AA"/>
                </a:solidFill>
                <a:latin typeface="Calibri"/>
              </a:defRPr>
            </a:pPr>
            <a:r>
              <a:t>Computer vision inventory counting &amp; shelf compliance</a:t>
            </a:r>
          </a:p>
        </p:txBody>
      </p:sp>
      <p:sp>
        <p:nvSpPr>
          <p:cNvPr id="16" name="Rounded Rectangle 15"/>
          <p:cNvSpPr/>
          <p:nvPr/>
        </p:nvSpPr>
        <p:spPr>
          <a:xfrm>
            <a:off x="731520" y="292608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97180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18" name="TextBox 17"/>
          <p:cNvSpPr txBox="1"/>
          <p:nvPr/>
        </p:nvSpPr>
        <p:spPr>
          <a:xfrm>
            <a:off x="1371600" y="2999232"/>
            <a:ext cx="2560320" cy="274320"/>
          </a:xfrm>
          <a:prstGeom prst="rect">
            <a:avLst/>
          </a:prstGeom>
          <a:noFill/>
        </p:spPr>
        <p:txBody>
          <a:bodyPr wrap="square">
            <a:spAutoFit/>
          </a:bodyPr>
          <a:lstStyle/>
          <a:p>
            <a:pPr algn="l">
              <a:defRPr sz="1300" b="1">
                <a:solidFill>
                  <a:srgbClr val="FF6B6B"/>
                </a:solidFill>
                <a:latin typeface="Calibri"/>
              </a:defRPr>
            </a:pPr>
            <a:r>
              <a:t>PricingAI</a:t>
            </a:r>
          </a:p>
        </p:txBody>
      </p:sp>
      <p:sp>
        <p:nvSpPr>
          <p:cNvPr id="19" name="TextBox 18"/>
          <p:cNvSpPr txBox="1"/>
          <p:nvPr/>
        </p:nvSpPr>
        <p:spPr>
          <a:xfrm>
            <a:off x="1371600" y="3291840"/>
            <a:ext cx="2651760" cy="365760"/>
          </a:xfrm>
          <a:prstGeom prst="rect">
            <a:avLst/>
          </a:prstGeom>
          <a:noFill/>
        </p:spPr>
        <p:txBody>
          <a:bodyPr wrap="square">
            <a:spAutoFit/>
          </a:bodyPr>
          <a:lstStyle/>
          <a:p>
            <a:pPr algn="l">
              <a:defRPr sz="1000" b="0">
                <a:solidFill>
                  <a:srgbClr val="8888AA"/>
                </a:solidFill>
                <a:latin typeface="Calibri"/>
              </a:defRPr>
            </a:pPr>
            <a:r>
              <a:t>Dynamic pricing optimization across channels &amp; store types</a:t>
            </a:r>
          </a:p>
        </p:txBody>
      </p:sp>
      <p:sp>
        <p:nvSpPr>
          <p:cNvPr id="20" name="Rounded Rectangle 19"/>
          <p:cNvSpPr/>
          <p:nvPr/>
        </p:nvSpPr>
        <p:spPr>
          <a:xfrm>
            <a:off x="4480559" y="292608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297180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22" name="TextBox 21"/>
          <p:cNvSpPr txBox="1"/>
          <p:nvPr/>
        </p:nvSpPr>
        <p:spPr>
          <a:xfrm>
            <a:off x="5120640" y="2999232"/>
            <a:ext cx="2560320" cy="274320"/>
          </a:xfrm>
          <a:prstGeom prst="rect">
            <a:avLst/>
          </a:prstGeom>
          <a:noFill/>
        </p:spPr>
        <p:txBody>
          <a:bodyPr wrap="square">
            <a:spAutoFit/>
          </a:bodyPr>
          <a:lstStyle/>
          <a:p>
            <a:pPr algn="l">
              <a:defRPr sz="1300" b="1">
                <a:solidFill>
                  <a:srgbClr val="6C63FF"/>
                </a:solidFill>
                <a:latin typeface="Calibri"/>
              </a:defRPr>
            </a:pPr>
            <a:r>
              <a:t>PeopleAI</a:t>
            </a:r>
          </a:p>
        </p:txBody>
      </p:sp>
      <p:sp>
        <p:nvSpPr>
          <p:cNvPr id="23" name="TextBox 22"/>
          <p:cNvSpPr txBox="1"/>
          <p:nvPr/>
        </p:nvSpPr>
        <p:spPr>
          <a:xfrm>
            <a:off x="5120640" y="3291840"/>
            <a:ext cx="2651760" cy="365760"/>
          </a:xfrm>
          <a:prstGeom prst="rect">
            <a:avLst/>
          </a:prstGeom>
          <a:noFill/>
        </p:spPr>
        <p:txBody>
          <a:bodyPr wrap="square">
            <a:spAutoFit/>
          </a:bodyPr>
          <a:lstStyle/>
          <a:p>
            <a:pPr algn="l">
              <a:defRPr sz="1000" b="0">
                <a:solidFill>
                  <a:srgbClr val="8888AA"/>
                </a:solidFill>
                <a:latin typeface="Calibri"/>
              </a:defRPr>
            </a:pPr>
            <a:r>
              <a:t>Staff performance scoring, coaching triggers &amp; scheduling</a:t>
            </a:r>
          </a:p>
        </p:txBody>
      </p:sp>
      <p:sp>
        <p:nvSpPr>
          <p:cNvPr id="24" name="Rounded Rectangle 23"/>
          <p:cNvSpPr/>
          <p:nvPr/>
        </p:nvSpPr>
        <p:spPr>
          <a:xfrm>
            <a:off x="8229600" y="292608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297180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26" name="TextBox 25"/>
          <p:cNvSpPr txBox="1"/>
          <p:nvPr/>
        </p:nvSpPr>
        <p:spPr>
          <a:xfrm>
            <a:off x="8869680" y="2999232"/>
            <a:ext cx="2560320" cy="274320"/>
          </a:xfrm>
          <a:prstGeom prst="rect">
            <a:avLst/>
          </a:prstGeom>
          <a:noFill/>
        </p:spPr>
        <p:txBody>
          <a:bodyPr wrap="square">
            <a:spAutoFit/>
          </a:bodyPr>
          <a:lstStyle/>
          <a:p>
            <a:pPr algn="l">
              <a:defRPr sz="1300" b="1">
                <a:solidFill>
                  <a:srgbClr val="00D4AA"/>
                </a:solidFill>
                <a:latin typeface="Calibri"/>
              </a:defRPr>
            </a:pPr>
            <a:r>
              <a:t>AcademyAI</a:t>
            </a:r>
          </a:p>
        </p:txBody>
      </p:sp>
      <p:sp>
        <p:nvSpPr>
          <p:cNvPr id="27" name="TextBox 26"/>
          <p:cNvSpPr txBox="1"/>
          <p:nvPr/>
        </p:nvSpPr>
        <p:spPr>
          <a:xfrm>
            <a:off x="8869680" y="3291840"/>
            <a:ext cx="2651760" cy="365760"/>
          </a:xfrm>
          <a:prstGeom prst="rect">
            <a:avLst/>
          </a:prstGeom>
          <a:noFill/>
        </p:spPr>
        <p:txBody>
          <a:bodyPr wrap="square">
            <a:spAutoFit/>
          </a:bodyPr>
          <a:lstStyle/>
          <a:p>
            <a:pPr algn="l">
              <a:defRPr sz="1000" b="0">
                <a:solidFill>
                  <a:srgbClr val="8888AA"/>
                </a:solidFill>
                <a:latin typeface="Calibri"/>
              </a:defRPr>
            </a:pPr>
            <a:r>
              <a:t>Gamified L&amp;D platform with adaptive learning paths &amp; certifications</a:t>
            </a:r>
          </a:p>
        </p:txBody>
      </p:sp>
      <p:sp>
        <p:nvSpPr>
          <p:cNvPr id="28" name="Rounded Rectangle 27"/>
          <p:cNvSpPr/>
          <p:nvPr/>
        </p:nvSpPr>
        <p:spPr>
          <a:xfrm>
            <a:off x="731520" y="393192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397764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30" name="TextBox 29"/>
          <p:cNvSpPr txBox="1"/>
          <p:nvPr/>
        </p:nvSpPr>
        <p:spPr>
          <a:xfrm>
            <a:off x="1371600" y="4005072"/>
            <a:ext cx="2560320" cy="274320"/>
          </a:xfrm>
          <a:prstGeom prst="rect">
            <a:avLst/>
          </a:prstGeom>
          <a:noFill/>
        </p:spPr>
        <p:txBody>
          <a:bodyPr wrap="square">
            <a:spAutoFit/>
          </a:bodyPr>
          <a:lstStyle/>
          <a:p>
            <a:pPr algn="l">
              <a:defRPr sz="1300" b="1">
                <a:solidFill>
                  <a:srgbClr val="F5A623"/>
                </a:solidFill>
                <a:latin typeface="Calibri"/>
              </a:defRPr>
            </a:pPr>
            <a:r>
              <a:t>CustomerAI</a:t>
            </a:r>
          </a:p>
        </p:txBody>
      </p:sp>
      <p:sp>
        <p:nvSpPr>
          <p:cNvPr id="31" name="TextBox 30"/>
          <p:cNvSpPr txBox="1"/>
          <p:nvPr/>
        </p:nvSpPr>
        <p:spPr>
          <a:xfrm>
            <a:off x="1371600" y="4297680"/>
            <a:ext cx="2651760" cy="365760"/>
          </a:xfrm>
          <a:prstGeom prst="rect">
            <a:avLst/>
          </a:prstGeom>
          <a:noFill/>
        </p:spPr>
        <p:txBody>
          <a:bodyPr wrap="square">
            <a:spAutoFit/>
          </a:bodyPr>
          <a:lstStyle/>
          <a:p>
            <a:pPr algn="l">
              <a:defRPr sz="1000" b="0">
                <a:solidFill>
                  <a:srgbClr val="8888AA"/>
                </a:solidFill>
                <a:latin typeface="Calibri"/>
              </a:defRPr>
            </a:pPr>
            <a:r>
              <a:t>Segmentation, lifetime value prediction &amp; churn prevention</a:t>
            </a:r>
          </a:p>
        </p:txBody>
      </p:sp>
      <p:sp>
        <p:nvSpPr>
          <p:cNvPr id="32" name="Rounded Rectangle 31"/>
          <p:cNvSpPr/>
          <p:nvPr/>
        </p:nvSpPr>
        <p:spPr>
          <a:xfrm>
            <a:off x="4480559" y="393192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397764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34" name="TextBox 33"/>
          <p:cNvSpPr txBox="1"/>
          <p:nvPr/>
        </p:nvSpPr>
        <p:spPr>
          <a:xfrm>
            <a:off x="5120640" y="4005072"/>
            <a:ext cx="2560320" cy="274320"/>
          </a:xfrm>
          <a:prstGeom prst="rect">
            <a:avLst/>
          </a:prstGeom>
          <a:noFill/>
        </p:spPr>
        <p:txBody>
          <a:bodyPr wrap="square">
            <a:spAutoFit/>
          </a:bodyPr>
          <a:lstStyle/>
          <a:p>
            <a:pPr algn="l">
              <a:defRPr sz="1300" b="1">
                <a:solidFill>
                  <a:srgbClr val="FF6B6B"/>
                </a:solidFill>
                <a:latin typeface="Calibri"/>
              </a:defRPr>
            </a:pPr>
            <a:r>
              <a:t>ConversationAI</a:t>
            </a:r>
          </a:p>
        </p:txBody>
      </p:sp>
      <p:sp>
        <p:nvSpPr>
          <p:cNvPr id="35" name="TextBox 34"/>
          <p:cNvSpPr txBox="1"/>
          <p:nvPr/>
        </p:nvSpPr>
        <p:spPr>
          <a:xfrm>
            <a:off x="5120640" y="4297680"/>
            <a:ext cx="2651760" cy="365760"/>
          </a:xfrm>
          <a:prstGeom prst="rect">
            <a:avLst/>
          </a:prstGeom>
          <a:noFill/>
        </p:spPr>
        <p:txBody>
          <a:bodyPr wrap="square">
            <a:spAutoFit/>
          </a:bodyPr>
          <a:lstStyle/>
          <a:p>
            <a:pPr algn="l">
              <a:defRPr sz="1000" b="0">
                <a:solidFill>
                  <a:srgbClr val="8888AA"/>
                </a:solidFill>
                <a:latin typeface="Calibri"/>
              </a:defRPr>
            </a:pPr>
            <a:r>
              <a:t>WhatsApp automation, chatbot &amp; clienteling prompts</a:t>
            </a:r>
          </a:p>
        </p:txBody>
      </p:sp>
      <p:sp>
        <p:nvSpPr>
          <p:cNvPr id="36" name="Rounded Rectangle 35"/>
          <p:cNvSpPr/>
          <p:nvPr/>
        </p:nvSpPr>
        <p:spPr>
          <a:xfrm>
            <a:off x="8229600" y="3931920"/>
            <a:ext cx="3474720" cy="82296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3977640"/>
            <a:ext cx="457200" cy="457200"/>
          </a:xfrm>
          <a:prstGeom prst="rect">
            <a:avLst/>
          </a:prstGeom>
          <a:noFill/>
        </p:spPr>
        <p:txBody>
          <a:bodyPr wrap="square">
            <a:spAutoFit/>
          </a:bodyPr>
          <a:lstStyle/>
          <a:p>
            <a:pPr algn="l">
              <a:defRPr sz="1800" b="0">
                <a:solidFill>
                  <a:srgbClr val="F0F0F5"/>
                </a:solidFill>
                <a:latin typeface="Calibri"/>
              </a:defRPr>
            </a:pPr>
            <a:r>
              <a:t>🔍</a:t>
            </a:r>
          </a:p>
        </p:txBody>
      </p:sp>
      <p:sp>
        <p:nvSpPr>
          <p:cNvPr id="38" name="TextBox 37"/>
          <p:cNvSpPr txBox="1"/>
          <p:nvPr/>
        </p:nvSpPr>
        <p:spPr>
          <a:xfrm>
            <a:off x="8869680" y="4005072"/>
            <a:ext cx="2560320" cy="274320"/>
          </a:xfrm>
          <a:prstGeom prst="rect">
            <a:avLst/>
          </a:prstGeom>
          <a:noFill/>
        </p:spPr>
        <p:txBody>
          <a:bodyPr wrap="square">
            <a:spAutoFit/>
          </a:bodyPr>
          <a:lstStyle/>
          <a:p>
            <a:pPr algn="l">
              <a:defRPr sz="1300" b="1">
                <a:solidFill>
                  <a:srgbClr val="6C63FF"/>
                </a:solidFill>
                <a:latin typeface="Calibri"/>
              </a:defRPr>
            </a:pPr>
            <a:r>
              <a:t>InsightAI</a:t>
            </a:r>
          </a:p>
        </p:txBody>
      </p:sp>
      <p:sp>
        <p:nvSpPr>
          <p:cNvPr id="39" name="TextBox 38"/>
          <p:cNvSpPr txBox="1"/>
          <p:nvPr/>
        </p:nvSpPr>
        <p:spPr>
          <a:xfrm>
            <a:off x="8869680" y="4297680"/>
            <a:ext cx="2651760" cy="365760"/>
          </a:xfrm>
          <a:prstGeom prst="rect">
            <a:avLst/>
          </a:prstGeom>
          <a:noFill/>
        </p:spPr>
        <p:txBody>
          <a:bodyPr wrap="square">
            <a:spAutoFit/>
          </a:bodyPr>
          <a:lstStyle/>
          <a:p>
            <a:pPr algn="l">
              <a:defRPr sz="1000" b="0">
                <a:solidFill>
                  <a:srgbClr val="8888AA"/>
                </a:solidFill>
                <a:latin typeface="Calibri"/>
              </a:defRPr>
            </a:pPr>
            <a:r>
              <a:t>'What were my top 5 stores this Eid?' — instant answers</a:t>
            </a:r>
          </a:p>
        </p:txBody>
      </p:sp>
      <p:sp>
        <p:nvSpPr>
          <p:cNvPr id="40" name="TextBox 39"/>
          <p:cNvSpPr txBox="1"/>
          <p:nvPr/>
        </p:nvSpPr>
        <p:spPr>
          <a:xfrm>
            <a:off x="731520" y="5943600"/>
            <a:ext cx="10058400" cy="457200"/>
          </a:xfrm>
          <a:prstGeom prst="rect">
            <a:avLst/>
          </a:prstGeom>
          <a:noFill/>
        </p:spPr>
        <p:txBody>
          <a:bodyPr wrap="square">
            <a:spAutoFit/>
          </a:bodyPr>
          <a:lstStyle/>
          <a:p>
            <a:pPr algn="ctr">
              <a:defRPr sz="1300" b="0">
                <a:solidFill>
                  <a:srgbClr val="8888AA"/>
                </a:solidFill>
                <a:latin typeface="Calibri"/>
              </a:defRPr>
            </a:pPr>
            <a:r>
              <a:t>Each AI engine gets smarter over time. And they feed each other — DemandAI uses PricingAI data, FragranceAI uses CustomerAI profiles, InsightAI sits on top of everything.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00D4AA"/>
                </a:solidFill>
                <a:latin typeface="Calibri"/>
              </a:defRPr>
            </a:pPr>
            <a:r>
              <a:t>BUSINESS CASE</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What the Numbers Look Like</a:t>
            </a:r>
          </a:p>
        </p:txBody>
      </p:sp>
      <p:sp>
        <p:nvSpPr>
          <p:cNvPr id="4" name="Rounded Rectangle 3"/>
          <p:cNvSpPr/>
          <p:nvPr/>
        </p:nvSpPr>
        <p:spPr>
          <a:xfrm>
            <a:off x="731520" y="1920240"/>
            <a:ext cx="502920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657600" cy="274320"/>
          </a:xfrm>
          <a:prstGeom prst="rect">
            <a:avLst/>
          </a:prstGeom>
          <a:noFill/>
        </p:spPr>
        <p:txBody>
          <a:bodyPr wrap="square">
            <a:spAutoFit/>
          </a:bodyPr>
          <a:lstStyle/>
          <a:p>
            <a:pPr algn="l">
              <a:defRPr sz="1100" b="1">
                <a:solidFill>
                  <a:srgbClr val="00D4AA"/>
                </a:solidFill>
                <a:latin typeface="Calibri"/>
              </a:defRPr>
            </a:pPr>
            <a:r>
              <a:t>OPERATIONAL SAVINGS</a:t>
            </a:r>
          </a:p>
        </p:txBody>
      </p:sp>
      <p:sp>
        <p:nvSpPr>
          <p:cNvPr id="6" name="TextBox 5"/>
          <p:cNvSpPr txBox="1"/>
          <p:nvPr/>
        </p:nvSpPr>
        <p:spPr>
          <a:xfrm>
            <a:off x="914400" y="2468880"/>
            <a:ext cx="2011680" cy="274320"/>
          </a:xfrm>
          <a:prstGeom prst="rect">
            <a:avLst/>
          </a:prstGeom>
          <a:noFill/>
        </p:spPr>
        <p:txBody>
          <a:bodyPr wrap="square">
            <a:spAutoFit/>
          </a:bodyPr>
          <a:lstStyle/>
          <a:p>
            <a:pPr algn="l">
              <a:defRPr sz="1300" b="1">
                <a:solidFill>
                  <a:srgbClr val="00D4AA"/>
                </a:solidFill>
                <a:latin typeface="Calibri"/>
              </a:defRPr>
            </a:pPr>
            <a:r>
              <a:t>15-20 hrs/store</a:t>
            </a:r>
          </a:p>
        </p:txBody>
      </p:sp>
      <p:sp>
        <p:nvSpPr>
          <p:cNvPr id="7" name="TextBox 6"/>
          <p:cNvSpPr txBox="1"/>
          <p:nvPr/>
        </p:nvSpPr>
        <p:spPr>
          <a:xfrm>
            <a:off x="3017520" y="2468880"/>
            <a:ext cx="2560320" cy="274320"/>
          </a:xfrm>
          <a:prstGeom prst="rect">
            <a:avLst/>
          </a:prstGeom>
          <a:noFill/>
        </p:spPr>
        <p:txBody>
          <a:bodyPr wrap="square">
            <a:spAutoFit/>
          </a:bodyPr>
          <a:lstStyle/>
          <a:p>
            <a:pPr algn="l">
              <a:defRPr sz="1200" b="0">
                <a:solidFill>
                  <a:srgbClr val="8888AA"/>
                </a:solidFill>
                <a:latin typeface="Calibri"/>
              </a:defRPr>
            </a:pPr>
            <a:r>
              <a:t>Monthly billing time saved</a:t>
            </a:r>
          </a:p>
        </p:txBody>
      </p:sp>
      <p:sp>
        <p:nvSpPr>
          <p:cNvPr id="8" name="TextBox 7"/>
          <p:cNvSpPr txBox="1"/>
          <p:nvPr/>
        </p:nvSpPr>
        <p:spPr>
          <a:xfrm>
            <a:off x="914400" y="2907792"/>
            <a:ext cx="2011680" cy="274320"/>
          </a:xfrm>
          <a:prstGeom prst="rect">
            <a:avLst/>
          </a:prstGeom>
          <a:noFill/>
        </p:spPr>
        <p:txBody>
          <a:bodyPr wrap="square">
            <a:spAutoFit/>
          </a:bodyPr>
          <a:lstStyle/>
          <a:p>
            <a:pPr algn="l">
              <a:defRPr sz="1300" b="1">
                <a:solidFill>
                  <a:srgbClr val="00D4AA"/>
                </a:solidFill>
                <a:latin typeface="Calibri"/>
              </a:defRPr>
            </a:pPr>
            <a:r>
              <a:t>30+ hrs/month</a:t>
            </a:r>
          </a:p>
        </p:txBody>
      </p:sp>
      <p:sp>
        <p:nvSpPr>
          <p:cNvPr id="9" name="TextBox 8"/>
          <p:cNvSpPr txBox="1"/>
          <p:nvPr/>
        </p:nvSpPr>
        <p:spPr>
          <a:xfrm>
            <a:off x="3017520" y="2907792"/>
            <a:ext cx="2560320" cy="274320"/>
          </a:xfrm>
          <a:prstGeom prst="rect">
            <a:avLst/>
          </a:prstGeom>
          <a:noFill/>
        </p:spPr>
        <p:txBody>
          <a:bodyPr wrap="square">
            <a:spAutoFit/>
          </a:bodyPr>
          <a:lstStyle/>
          <a:p>
            <a:pPr algn="l">
              <a:defRPr sz="1200" b="0">
                <a:solidFill>
                  <a:srgbClr val="8888AA"/>
                </a:solidFill>
                <a:latin typeface="Calibri"/>
              </a:defRPr>
            </a:pPr>
            <a:r>
              <a:t>HQ manual dashboard work eliminated</a:t>
            </a:r>
          </a:p>
        </p:txBody>
      </p:sp>
      <p:sp>
        <p:nvSpPr>
          <p:cNvPr id="10" name="TextBox 9"/>
          <p:cNvSpPr txBox="1"/>
          <p:nvPr/>
        </p:nvSpPr>
        <p:spPr>
          <a:xfrm>
            <a:off x="914400" y="3346704"/>
            <a:ext cx="2011680" cy="274320"/>
          </a:xfrm>
          <a:prstGeom prst="rect">
            <a:avLst/>
          </a:prstGeom>
          <a:noFill/>
        </p:spPr>
        <p:txBody>
          <a:bodyPr wrap="square">
            <a:spAutoFit/>
          </a:bodyPr>
          <a:lstStyle/>
          <a:p>
            <a:pPr algn="l">
              <a:defRPr sz="1300" b="1">
                <a:solidFill>
                  <a:srgbClr val="00D4AA"/>
                </a:solidFill>
                <a:latin typeface="Calibri"/>
              </a:defRPr>
            </a:pPr>
            <a:r>
              <a:t>70% reduction</a:t>
            </a:r>
          </a:p>
        </p:txBody>
      </p:sp>
      <p:sp>
        <p:nvSpPr>
          <p:cNvPr id="11" name="TextBox 10"/>
          <p:cNvSpPr txBox="1"/>
          <p:nvPr/>
        </p:nvSpPr>
        <p:spPr>
          <a:xfrm>
            <a:off x="3017520" y="3346704"/>
            <a:ext cx="2560320" cy="274320"/>
          </a:xfrm>
          <a:prstGeom prst="rect">
            <a:avLst/>
          </a:prstGeom>
          <a:noFill/>
        </p:spPr>
        <p:txBody>
          <a:bodyPr wrap="square">
            <a:spAutoFit/>
          </a:bodyPr>
          <a:lstStyle/>
          <a:p>
            <a:pPr algn="l">
              <a:defRPr sz="1200" b="0">
                <a:solidFill>
                  <a:srgbClr val="8888AA"/>
                </a:solidFill>
                <a:latin typeface="Calibri"/>
              </a:defRPr>
            </a:pPr>
            <a:r>
              <a:t>Inventory counting time</a:t>
            </a:r>
          </a:p>
        </p:txBody>
      </p:sp>
      <p:sp>
        <p:nvSpPr>
          <p:cNvPr id="12" name="TextBox 11"/>
          <p:cNvSpPr txBox="1"/>
          <p:nvPr/>
        </p:nvSpPr>
        <p:spPr>
          <a:xfrm>
            <a:off x="914400" y="3785616"/>
            <a:ext cx="2011680" cy="274320"/>
          </a:xfrm>
          <a:prstGeom prst="rect">
            <a:avLst/>
          </a:prstGeom>
          <a:noFill/>
        </p:spPr>
        <p:txBody>
          <a:bodyPr wrap="square">
            <a:spAutoFit/>
          </a:bodyPr>
          <a:lstStyle/>
          <a:p>
            <a:pPr algn="l">
              <a:defRPr sz="1300" b="1">
                <a:solidFill>
                  <a:srgbClr val="00D4AA"/>
                </a:solidFill>
                <a:latin typeface="Calibri"/>
              </a:defRPr>
            </a:pPr>
            <a:r>
              <a:t>3 wks → 5 days</a:t>
            </a:r>
          </a:p>
        </p:txBody>
      </p:sp>
      <p:sp>
        <p:nvSpPr>
          <p:cNvPr id="13" name="TextBox 12"/>
          <p:cNvSpPr txBox="1"/>
          <p:nvPr/>
        </p:nvSpPr>
        <p:spPr>
          <a:xfrm>
            <a:off x="3017520" y="3785616"/>
            <a:ext cx="2560320" cy="274320"/>
          </a:xfrm>
          <a:prstGeom prst="rect">
            <a:avLst/>
          </a:prstGeom>
          <a:noFill/>
        </p:spPr>
        <p:txBody>
          <a:bodyPr wrap="square">
            <a:spAutoFit/>
          </a:bodyPr>
          <a:lstStyle/>
          <a:p>
            <a:pPr algn="l">
              <a:defRPr sz="1200" b="0">
                <a:solidFill>
                  <a:srgbClr val="8888AA"/>
                </a:solidFill>
                <a:latin typeface="Calibri"/>
              </a:defRPr>
            </a:pPr>
            <a:r>
              <a:t>New hire training time</a:t>
            </a:r>
          </a:p>
        </p:txBody>
      </p:sp>
      <p:sp>
        <p:nvSpPr>
          <p:cNvPr id="14" name="TextBox 13"/>
          <p:cNvSpPr txBox="1"/>
          <p:nvPr/>
        </p:nvSpPr>
        <p:spPr>
          <a:xfrm>
            <a:off x="914400" y="4224528"/>
            <a:ext cx="2011680" cy="274320"/>
          </a:xfrm>
          <a:prstGeom prst="rect">
            <a:avLst/>
          </a:prstGeom>
          <a:noFill/>
        </p:spPr>
        <p:txBody>
          <a:bodyPr wrap="square">
            <a:spAutoFit/>
          </a:bodyPr>
          <a:lstStyle/>
          <a:p>
            <a:pPr algn="l">
              <a:defRPr sz="1300" b="1">
                <a:solidFill>
                  <a:srgbClr val="00D4AA"/>
                </a:solidFill>
                <a:latin typeface="Calibri"/>
              </a:defRPr>
            </a:pPr>
            <a:r>
              <a:t>Near-zero</a:t>
            </a:r>
          </a:p>
        </p:txBody>
      </p:sp>
      <p:sp>
        <p:nvSpPr>
          <p:cNvPr id="15" name="TextBox 14"/>
          <p:cNvSpPr txBox="1"/>
          <p:nvPr/>
        </p:nvSpPr>
        <p:spPr>
          <a:xfrm>
            <a:off x="3017520" y="4224528"/>
            <a:ext cx="2560320" cy="274320"/>
          </a:xfrm>
          <a:prstGeom prst="rect">
            <a:avLst/>
          </a:prstGeom>
          <a:noFill/>
        </p:spPr>
        <p:txBody>
          <a:bodyPr wrap="square">
            <a:spAutoFit/>
          </a:bodyPr>
          <a:lstStyle/>
          <a:p>
            <a:pPr algn="l">
              <a:defRPr sz="1200" b="0">
                <a:solidFill>
                  <a:srgbClr val="8888AA"/>
                </a:solidFill>
                <a:latin typeface="Calibri"/>
              </a:defRPr>
            </a:pPr>
            <a:r>
              <a:t>Promo / pricing errors</a:t>
            </a:r>
          </a:p>
        </p:txBody>
      </p:sp>
      <p:sp>
        <p:nvSpPr>
          <p:cNvPr id="16" name="Rounded Rectangle 15"/>
          <p:cNvSpPr/>
          <p:nvPr/>
        </p:nvSpPr>
        <p:spPr>
          <a:xfrm>
            <a:off x="6217920" y="1920240"/>
            <a:ext cx="5212080" cy="292608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011680"/>
            <a:ext cx="3657600" cy="274320"/>
          </a:xfrm>
          <a:prstGeom prst="rect">
            <a:avLst/>
          </a:prstGeom>
          <a:noFill/>
        </p:spPr>
        <p:txBody>
          <a:bodyPr wrap="square">
            <a:spAutoFit/>
          </a:bodyPr>
          <a:lstStyle/>
          <a:p>
            <a:pPr algn="l">
              <a:defRPr sz="1100" b="1">
                <a:solidFill>
                  <a:srgbClr val="F5A623"/>
                </a:solidFill>
                <a:latin typeface="Calibri"/>
              </a:defRPr>
            </a:pPr>
            <a:r>
              <a:t>REVENUE UPLIFT</a:t>
            </a:r>
          </a:p>
        </p:txBody>
      </p:sp>
      <p:sp>
        <p:nvSpPr>
          <p:cNvPr id="18" name="TextBox 17"/>
          <p:cNvSpPr txBox="1"/>
          <p:nvPr/>
        </p:nvSpPr>
        <p:spPr>
          <a:xfrm>
            <a:off x="6400800" y="2468880"/>
            <a:ext cx="1828800" cy="274320"/>
          </a:xfrm>
          <a:prstGeom prst="rect">
            <a:avLst/>
          </a:prstGeom>
          <a:noFill/>
        </p:spPr>
        <p:txBody>
          <a:bodyPr wrap="square">
            <a:spAutoFit/>
          </a:bodyPr>
          <a:lstStyle/>
          <a:p>
            <a:pPr algn="l">
              <a:defRPr sz="1400" b="1">
                <a:solidFill>
                  <a:srgbClr val="F5A623"/>
                </a:solidFill>
                <a:latin typeface="Calibri"/>
              </a:defRPr>
            </a:pPr>
            <a:r>
              <a:t>22-35%</a:t>
            </a:r>
          </a:p>
        </p:txBody>
      </p:sp>
      <p:sp>
        <p:nvSpPr>
          <p:cNvPr id="19" name="TextBox 18"/>
          <p:cNvSpPr txBox="1"/>
          <p:nvPr/>
        </p:nvSpPr>
        <p:spPr>
          <a:xfrm>
            <a:off x="8412480" y="2468880"/>
            <a:ext cx="2743200" cy="274320"/>
          </a:xfrm>
          <a:prstGeom prst="rect">
            <a:avLst/>
          </a:prstGeom>
          <a:noFill/>
        </p:spPr>
        <p:txBody>
          <a:bodyPr wrap="square">
            <a:spAutoFit/>
          </a:bodyPr>
          <a:lstStyle/>
          <a:p>
            <a:pPr algn="l">
              <a:defRPr sz="1200" b="0">
                <a:solidFill>
                  <a:srgbClr val="8888AA"/>
                </a:solidFill>
                <a:latin typeface="Calibri"/>
              </a:defRPr>
            </a:pPr>
            <a:r>
              <a:t>Basket size increase (AI recs)</a:t>
            </a:r>
          </a:p>
        </p:txBody>
      </p:sp>
      <p:sp>
        <p:nvSpPr>
          <p:cNvPr id="20" name="TextBox 19"/>
          <p:cNvSpPr txBox="1"/>
          <p:nvPr/>
        </p:nvSpPr>
        <p:spPr>
          <a:xfrm>
            <a:off x="6400800" y="2944368"/>
            <a:ext cx="1828800" cy="274320"/>
          </a:xfrm>
          <a:prstGeom prst="rect">
            <a:avLst/>
          </a:prstGeom>
          <a:noFill/>
        </p:spPr>
        <p:txBody>
          <a:bodyPr wrap="square">
            <a:spAutoFit/>
          </a:bodyPr>
          <a:lstStyle/>
          <a:p>
            <a:pPr algn="l">
              <a:defRPr sz="1400" b="1">
                <a:solidFill>
                  <a:srgbClr val="F5A623"/>
                </a:solidFill>
                <a:latin typeface="Calibri"/>
              </a:defRPr>
            </a:pPr>
            <a:r>
              <a:t>40%</a:t>
            </a:r>
          </a:p>
        </p:txBody>
      </p:sp>
      <p:sp>
        <p:nvSpPr>
          <p:cNvPr id="21" name="TextBox 20"/>
          <p:cNvSpPr txBox="1"/>
          <p:nvPr/>
        </p:nvSpPr>
        <p:spPr>
          <a:xfrm>
            <a:off x="8412480" y="2944368"/>
            <a:ext cx="2743200" cy="274320"/>
          </a:xfrm>
          <a:prstGeom prst="rect">
            <a:avLst/>
          </a:prstGeom>
          <a:noFill/>
        </p:spPr>
        <p:txBody>
          <a:bodyPr wrap="square">
            <a:spAutoFit/>
          </a:bodyPr>
          <a:lstStyle/>
          <a:p>
            <a:pPr algn="l">
              <a:defRPr sz="1200" b="0">
                <a:solidFill>
                  <a:srgbClr val="8888AA"/>
                </a:solidFill>
                <a:latin typeface="Calibri"/>
              </a:defRPr>
            </a:pPr>
            <a:r>
              <a:t>Stockout reduction = captured sales</a:t>
            </a:r>
          </a:p>
        </p:txBody>
      </p:sp>
      <p:sp>
        <p:nvSpPr>
          <p:cNvPr id="22" name="TextBox 21"/>
          <p:cNvSpPr txBox="1"/>
          <p:nvPr/>
        </p:nvSpPr>
        <p:spPr>
          <a:xfrm>
            <a:off x="6400800" y="3419856"/>
            <a:ext cx="1828800" cy="274320"/>
          </a:xfrm>
          <a:prstGeom prst="rect">
            <a:avLst/>
          </a:prstGeom>
          <a:noFill/>
        </p:spPr>
        <p:txBody>
          <a:bodyPr wrap="square">
            <a:spAutoFit/>
          </a:bodyPr>
          <a:lstStyle/>
          <a:p>
            <a:pPr algn="l">
              <a:defRPr sz="1400" b="1">
                <a:solidFill>
                  <a:srgbClr val="F5A623"/>
                </a:solidFill>
                <a:latin typeface="Calibri"/>
              </a:defRPr>
            </a:pPr>
            <a:r>
              <a:t>15-20%</a:t>
            </a:r>
          </a:p>
        </p:txBody>
      </p:sp>
      <p:sp>
        <p:nvSpPr>
          <p:cNvPr id="23" name="TextBox 22"/>
          <p:cNvSpPr txBox="1"/>
          <p:nvPr/>
        </p:nvSpPr>
        <p:spPr>
          <a:xfrm>
            <a:off x="8412480" y="3419856"/>
            <a:ext cx="2743200" cy="274320"/>
          </a:xfrm>
          <a:prstGeom prst="rect">
            <a:avLst/>
          </a:prstGeom>
          <a:noFill/>
        </p:spPr>
        <p:txBody>
          <a:bodyPr wrap="square">
            <a:spAutoFit/>
          </a:bodyPr>
          <a:lstStyle/>
          <a:p>
            <a:pPr algn="l">
              <a:defRPr sz="1200" b="0">
                <a:solidFill>
                  <a:srgbClr val="8888AA"/>
                </a:solidFill>
                <a:latin typeface="Calibri"/>
              </a:defRPr>
            </a:pPr>
            <a:r>
              <a:t>Repeat purchase improvement (WhatsApp)</a:t>
            </a:r>
          </a:p>
        </p:txBody>
      </p:sp>
      <p:sp>
        <p:nvSpPr>
          <p:cNvPr id="24" name="TextBox 23"/>
          <p:cNvSpPr txBox="1"/>
          <p:nvPr/>
        </p:nvSpPr>
        <p:spPr>
          <a:xfrm>
            <a:off x="6400800" y="3895344"/>
            <a:ext cx="1828800" cy="274320"/>
          </a:xfrm>
          <a:prstGeom prst="rect">
            <a:avLst/>
          </a:prstGeom>
          <a:noFill/>
        </p:spPr>
        <p:txBody>
          <a:bodyPr wrap="square">
            <a:spAutoFit/>
          </a:bodyPr>
          <a:lstStyle/>
          <a:p>
            <a:pPr algn="l">
              <a:defRPr sz="1400" b="1">
                <a:solidFill>
                  <a:srgbClr val="F5A623"/>
                </a:solidFill>
                <a:latin typeface="Calibri"/>
              </a:defRPr>
            </a:pPr>
            <a:r>
              <a:t>3-8%</a:t>
            </a:r>
          </a:p>
        </p:txBody>
      </p:sp>
      <p:sp>
        <p:nvSpPr>
          <p:cNvPr id="25" name="TextBox 24"/>
          <p:cNvSpPr txBox="1"/>
          <p:nvPr/>
        </p:nvSpPr>
        <p:spPr>
          <a:xfrm>
            <a:off x="8412480" y="3895344"/>
            <a:ext cx="2743200" cy="274320"/>
          </a:xfrm>
          <a:prstGeom prst="rect">
            <a:avLst/>
          </a:prstGeom>
          <a:noFill/>
        </p:spPr>
        <p:txBody>
          <a:bodyPr wrap="square">
            <a:spAutoFit/>
          </a:bodyPr>
          <a:lstStyle/>
          <a:p>
            <a:pPr algn="l">
              <a:defRPr sz="1200" b="0">
                <a:solidFill>
                  <a:srgbClr val="8888AA"/>
                </a:solidFill>
                <a:latin typeface="Calibri"/>
              </a:defRPr>
            </a:pPr>
            <a:r>
              <a:t>Margin improvement (dynamic pricing)</a:t>
            </a:r>
          </a:p>
        </p:txBody>
      </p:sp>
      <p:sp>
        <p:nvSpPr>
          <p:cNvPr id="26" name="Rounded Rectangle 25"/>
          <p:cNvSpPr/>
          <p:nvPr/>
        </p:nvSpPr>
        <p:spPr>
          <a:xfrm>
            <a:off x="731520" y="5120640"/>
            <a:ext cx="10698480" cy="1188720"/>
          </a:xfrm>
          <a:prstGeom prst="roundRect">
            <a:avLst/>
          </a:prstGeom>
          <a:solidFill>
            <a:srgbClr val="141228"/>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66360"/>
            <a:ext cx="10698480" cy="274320"/>
          </a:xfrm>
          <a:prstGeom prst="rect">
            <a:avLst/>
          </a:prstGeom>
          <a:noFill/>
        </p:spPr>
        <p:txBody>
          <a:bodyPr wrap="square">
            <a:spAutoFit/>
          </a:bodyPr>
          <a:lstStyle/>
          <a:p>
            <a:pPr algn="ctr">
              <a:defRPr sz="1300" b="0">
                <a:solidFill>
                  <a:srgbClr val="8888AA"/>
                </a:solidFill>
                <a:latin typeface="Calibri"/>
              </a:defRPr>
            </a:pPr>
            <a:r>
              <a:t>For a 100-store retail chain</a:t>
            </a:r>
          </a:p>
        </p:txBody>
      </p:sp>
      <p:sp>
        <p:nvSpPr>
          <p:cNvPr id="28" name="TextBox 27"/>
          <p:cNvSpPr txBox="1"/>
          <p:nvPr/>
        </p:nvSpPr>
        <p:spPr>
          <a:xfrm>
            <a:off x="731520" y="5440680"/>
            <a:ext cx="10698480" cy="457200"/>
          </a:xfrm>
          <a:prstGeom prst="rect">
            <a:avLst/>
          </a:prstGeom>
          <a:noFill/>
        </p:spPr>
        <p:txBody>
          <a:bodyPr wrap="square">
            <a:spAutoFit/>
          </a:bodyPr>
          <a:lstStyle/>
          <a:p>
            <a:pPr algn="ctr">
              <a:defRPr sz="3600" b="1">
                <a:solidFill>
                  <a:srgbClr val="00D4AA"/>
                </a:solidFill>
                <a:latin typeface="Calibri"/>
              </a:defRPr>
            </a:pPr>
            <a:r>
              <a:t>₹8-12 Cr Annual Impact</a:t>
            </a:r>
          </a:p>
        </p:txBody>
      </p:sp>
      <p:sp>
        <p:nvSpPr>
          <p:cNvPr id="29" name="TextBox 28"/>
          <p:cNvSpPr txBox="1"/>
          <p:nvPr/>
        </p:nvSpPr>
        <p:spPr>
          <a:xfrm>
            <a:off x="731520" y="5897880"/>
            <a:ext cx="10698480" cy="274320"/>
          </a:xfrm>
          <a:prstGeom prst="rect">
            <a:avLst/>
          </a:prstGeom>
          <a:noFill/>
        </p:spPr>
        <p:txBody>
          <a:bodyPr wrap="square">
            <a:spAutoFit/>
          </a:bodyPr>
          <a:lstStyle/>
          <a:p>
            <a:pPr algn="ctr">
              <a:defRPr sz="1300" b="0">
                <a:solidFill>
                  <a:srgbClr val="8888AA"/>
                </a:solidFill>
                <a:latin typeface="Calibri"/>
              </a:defRPr>
            </a:pPr>
            <a:r>
              <a:t>Within 18 months of full deployment  |  Platform payback: 4-6 months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00D4AA"/>
                </a:solidFill>
                <a:latin typeface="Calibri"/>
              </a:defRPr>
            </a:pPr>
            <a:r>
              <a:t>ROLLOUT</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3600" b="1">
                <a:solidFill>
                  <a:srgbClr val="FFFFFF"/>
                </a:solidFill>
                <a:latin typeface="Calibri"/>
              </a:defRPr>
            </a:pPr>
            <a:r>
              <a:t>Value in 8 Weeks. Full Platform in 6 Months.</a:t>
            </a:r>
          </a:p>
        </p:txBody>
      </p:sp>
      <p:sp>
        <p:nvSpPr>
          <p:cNvPr id="4" name="Rounded Rectangle 3"/>
          <p:cNvSpPr/>
          <p:nvPr/>
        </p:nvSpPr>
        <p:spPr>
          <a:xfrm>
            <a:off x="731520" y="2011680"/>
            <a:ext cx="10698480" cy="1097280"/>
          </a:xfrm>
          <a:prstGeom prst="roundRect">
            <a:avLst/>
          </a:prstGeom>
          <a:solidFill>
            <a:srgbClr val="1E160A"/>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548640" cy="457200"/>
          </a:xfrm>
          <a:prstGeom prst="rect">
            <a:avLst/>
          </a:prstGeom>
          <a:noFill/>
        </p:spPr>
        <p:txBody>
          <a:bodyPr wrap="square">
            <a:spAutoFit/>
          </a:bodyPr>
          <a:lstStyle/>
          <a:p>
            <a:pPr algn="l">
              <a:defRPr sz="2200" b="1">
                <a:solidFill>
                  <a:srgbClr val="F5A623"/>
                </a:solidFill>
                <a:latin typeface="Calibri"/>
              </a:defRPr>
            </a:pPr>
            <a:r>
              <a:t>P1</a:t>
            </a:r>
          </a:p>
        </p:txBody>
      </p:sp>
      <p:sp>
        <p:nvSpPr>
          <p:cNvPr id="6" name="TextBox 5"/>
          <p:cNvSpPr txBox="1"/>
          <p:nvPr/>
        </p:nvSpPr>
        <p:spPr>
          <a:xfrm>
            <a:off x="1645920" y="2057400"/>
            <a:ext cx="5486400" cy="320040"/>
          </a:xfrm>
          <a:prstGeom prst="rect">
            <a:avLst/>
          </a:prstGeom>
          <a:noFill/>
        </p:spPr>
        <p:txBody>
          <a:bodyPr wrap="square">
            <a:spAutoFit/>
          </a:bodyPr>
          <a:lstStyle/>
          <a:p>
            <a:pPr algn="l">
              <a:defRPr sz="1600" b="1">
                <a:solidFill>
                  <a:srgbClr val="FFFFFF"/>
                </a:solidFill>
                <a:latin typeface="Calibri"/>
              </a:defRPr>
            </a:pPr>
            <a:r>
              <a:t>Foundation — Smart POS + Command Center</a:t>
            </a:r>
          </a:p>
        </p:txBody>
      </p:sp>
      <p:sp>
        <p:nvSpPr>
          <p:cNvPr id="7" name="TextBox 6"/>
          <p:cNvSpPr txBox="1"/>
          <p:nvPr/>
        </p:nvSpPr>
        <p:spPr>
          <a:xfrm>
            <a:off x="8686800" y="2057400"/>
            <a:ext cx="2286000" cy="320040"/>
          </a:xfrm>
          <a:prstGeom prst="rect">
            <a:avLst/>
          </a:prstGeom>
          <a:noFill/>
        </p:spPr>
        <p:txBody>
          <a:bodyPr wrap="square">
            <a:spAutoFit/>
          </a:bodyPr>
          <a:lstStyle/>
          <a:p>
            <a:pPr algn="r">
              <a:defRPr sz="1300" b="1">
                <a:solidFill>
                  <a:srgbClr val="00D4AA"/>
                </a:solidFill>
                <a:latin typeface="Calibri"/>
              </a:defRPr>
            </a:pPr>
            <a:r>
              <a:t>Weeks 1-8</a:t>
            </a:r>
          </a:p>
        </p:txBody>
      </p:sp>
      <p:sp>
        <p:nvSpPr>
          <p:cNvPr id="8" name="TextBox 7"/>
          <p:cNvSpPr txBox="1"/>
          <p:nvPr/>
        </p:nvSpPr>
        <p:spPr>
          <a:xfrm>
            <a:off x="1645920" y="2468880"/>
            <a:ext cx="9144000" cy="457200"/>
          </a:xfrm>
          <a:prstGeom prst="rect">
            <a:avLst/>
          </a:prstGeom>
          <a:noFill/>
        </p:spPr>
        <p:txBody>
          <a:bodyPr wrap="square">
            <a:spAutoFit/>
          </a:bodyPr>
          <a:lstStyle/>
          <a:p>
            <a:pPr algn="l">
              <a:defRPr sz="1200" b="0">
                <a:solidFill>
                  <a:srgbClr val="8888AA"/>
                </a:solidFill>
                <a:latin typeface="Calibri"/>
              </a:defRPr>
            </a:pPr>
            <a:r>
              <a:t>Deploy across 10-15 pilot stores. HQ dashboards live. Staff trained. Parallel running with existing systems — zero disruption.</a:t>
            </a:r>
          </a:p>
        </p:txBody>
      </p:sp>
      <p:sp>
        <p:nvSpPr>
          <p:cNvPr id="9" name="Rounded Rectangle 8"/>
          <p:cNvSpPr/>
          <p:nvPr/>
        </p:nvSpPr>
        <p:spPr>
          <a:xfrm>
            <a:off x="731520" y="3291840"/>
            <a:ext cx="10698480" cy="1097280"/>
          </a:xfrm>
          <a:prstGeom prst="roundRect">
            <a:avLst/>
          </a:prstGeom>
          <a:solidFill>
            <a:srgbClr val="0E1A18"/>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37560"/>
            <a:ext cx="548640" cy="457200"/>
          </a:xfrm>
          <a:prstGeom prst="rect">
            <a:avLst/>
          </a:prstGeom>
          <a:noFill/>
        </p:spPr>
        <p:txBody>
          <a:bodyPr wrap="square">
            <a:spAutoFit/>
          </a:bodyPr>
          <a:lstStyle/>
          <a:p>
            <a:pPr algn="l">
              <a:defRPr sz="2200" b="1">
                <a:solidFill>
                  <a:srgbClr val="00D4AA"/>
                </a:solidFill>
                <a:latin typeface="Calibri"/>
              </a:defRPr>
            </a:pPr>
            <a:r>
              <a:t>P2</a:t>
            </a:r>
          </a:p>
        </p:txBody>
      </p:sp>
      <p:sp>
        <p:nvSpPr>
          <p:cNvPr id="11" name="TextBox 10"/>
          <p:cNvSpPr txBox="1"/>
          <p:nvPr/>
        </p:nvSpPr>
        <p:spPr>
          <a:xfrm>
            <a:off x="1645920" y="3337560"/>
            <a:ext cx="5486400" cy="320040"/>
          </a:xfrm>
          <a:prstGeom prst="rect">
            <a:avLst/>
          </a:prstGeom>
          <a:noFill/>
        </p:spPr>
        <p:txBody>
          <a:bodyPr wrap="square">
            <a:spAutoFit/>
          </a:bodyPr>
          <a:lstStyle/>
          <a:p>
            <a:pPr algn="l">
              <a:defRPr sz="1600" b="1">
                <a:solidFill>
                  <a:srgbClr val="FFFFFF"/>
                </a:solidFill>
                <a:latin typeface="Calibri"/>
              </a:defRPr>
            </a:pPr>
            <a:r>
              <a:t>Intelligence — Forecasting, Inventory AI, Staff Performance</a:t>
            </a:r>
          </a:p>
        </p:txBody>
      </p:sp>
      <p:sp>
        <p:nvSpPr>
          <p:cNvPr id="12" name="TextBox 11"/>
          <p:cNvSpPr txBox="1"/>
          <p:nvPr/>
        </p:nvSpPr>
        <p:spPr>
          <a:xfrm>
            <a:off x="8686800" y="3337560"/>
            <a:ext cx="2286000" cy="320040"/>
          </a:xfrm>
          <a:prstGeom prst="rect">
            <a:avLst/>
          </a:prstGeom>
          <a:noFill/>
        </p:spPr>
        <p:txBody>
          <a:bodyPr wrap="square">
            <a:spAutoFit/>
          </a:bodyPr>
          <a:lstStyle/>
          <a:p>
            <a:pPr algn="r">
              <a:defRPr sz="1300" b="1">
                <a:solidFill>
                  <a:srgbClr val="00D4AA"/>
                </a:solidFill>
                <a:latin typeface="Calibri"/>
              </a:defRPr>
            </a:pPr>
            <a:r>
              <a:t>Weeks 9-16</a:t>
            </a:r>
          </a:p>
        </p:txBody>
      </p:sp>
      <p:sp>
        <p:nvSpPr>
          <p:cNvPr id="13" name="TextBox 12"/>
          <p:cNvSpPr txBox="1"/>
          <p:nvPr/>
        </p:nvSpPr>
        <p:spPr>
          <a:xfrm>
            <a:off x="1645920" y="3749039"/>
            <a:ext cx="9144000" cy="457200"/>
          </a:xfrm>
          <a:prstGeom prst="rect">
            <a:avLst/>
          </a:prstGeom>
          <a:noFill/>
        </p:spPr>
        <p:txBody>
          <a:bodyPr wrap="square">
            <a:spAutoFit/>
          </a:bodyPr>
          <a:lstStyle/>
          <a:p>
            <a:pPr algn="l">
              <a:defRPr sz="1200" b="0">
                <a:solidFill>
                  <a:srgbClr val="8888AA"/>
                </a:solidFill>
                <a:latin typeface="Calibri"/>
              </a:defRPr>
            </a:pPr>
            <a:r>
              <a:t>Activate demand forecasting and inventory intelligence. Staff performance AI and training modules go live. Customer data unification begins.</a:t>
            </a:r>
          </a:p>
        </p:txBody>
      </p:sp>
      <p:sp>
        <p:nvSpPr>
          <p:cNvPr id="14" name="Rounded Rectangle 13"/>
          <p:cNvSpPr/>
          <p:nvPr/>
        </p:nvSpPr>
        <p:spPr>
          <a:xfrm>
            <a:off x="731520" y="4572000"/>
            <a:ext cx="10698480" cy="1097280"/>
          </a:xfrm>
          <a:prstGeom prst="roundRect">
            <a:avLst/>
          </a:prstGeom>
          <a:solidFill>
            <a:srgbClr val="141228"/>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617720"/>
            <a:ext cx="548640" cy="457200"/>
          </a:xfrm>
          <a:prstGeom prst="rect">
            <a:avLst/>
          </a:prstGeom>
          <a:noFill/>
        </p:spPr>
        <p:txBody>
          <a:bodyPr wrap="square">
            <a:spAutoFit/>
          </a:bodyPr>
          <a:lstStyle/>
          <a:p>
            <a:pPr algn="l">
              <a:defRPr sz="2200" b="1">
                <a:solidFill>
                  <a:srgbClr val="6C63FF"/>
                </a:solidFill>
                <a:latin typeface="Calibri"/>
              </a:defRPr>
            </a:pPr>
            <a:r>
              <a:t>P3</a:t>
            </a:r>
          </a:p>
        </p:txBody>
      </p:sp>
      <p:sp>
        <p:nvSpPr>
          <p:cNvPr id="16" name="TextBox 15"/>
          <p:cNvSpPr txBox="1"/>
          <p:nvPr/>
        </p:nvSpPr>
        <p:spPr>
          <a:xfrm>
            <a:off x="1645920" y="4617720"/>
            <a:ext cx="5486400" cy="320040"/>
          </a:xfrm>
          <a:prstGeom prst="rect">
            <a:avLst/>
          </a:prstGeom>
          <a:noFill/>
        </p:spPr>
        <p:txBody>
          <a:bodyPr wrap="square">
            <a:spAutoFit/>
          </a:bodyPr>
          <a:lstStyle/>
          <a:p>
            <a:pPr algn="l">
              <a:defRPr sz="1600" b="1">
                <a:solidFill>
                  <a:srgbClr val="FFFFFF"/>
                </a:solidFill>
                <a:latin typeface="Calibri"/>
              </a:defRPr>
            </a:pPr>
            <a:r>
              <a:t>Experience — FragranceAI, WhatsApp CRM, Dynamic Pricing</a:t>
            </a:r>
          </a:p>
        </p:txBody>
      </p:sp>
      <p:sp>
        <p:nvSpPr>
          <p:cNvPr id="17" name="TextBox 16"/>
          <p:cNvSpPr txBox="1"/>
          <p:nvPr/>
        </p:nvSpPr>
        <p:spPr>
          <a:xfrm>
            <a:off x="8686800" y="4617720"/>
            <a:ext cx="2286000" cy="320040"/>
          </a:xfrm>
          <a:prstGeom prst="rect">
            <a:avLst/>
          </a:prstGeom>
          <a:noFill/>
        </p:spPr>
        <p:txBody>
          <a:bodyPr wrap="square">
            <a:spAutoFit/>
          </a:bodyPr>
          <a:lstStyle/>
          <a:p>
            <a:pPr algn="r">
              <a:defRPr sz="1300" b="1">
                <a:solidFill>
                  <a:srgbClr val="00D4AA"/>
                </a:solidFill>
                <a:latin typeface="Calibri"/>
              </a:defRPr>
            </a:pPr>
            <a:r>
              <a:t>Weeks 17-24</a:t>
            </a:r>
          </a:p>
        </p:txBody>
      </p:sp>
      <p:sp>
        <p:nvSpPr>
          <p:cNvPr id="18" name="TextBox 17"/>
          <p:cNvSpPr txBox="1"/>
          <p:nvPr/>
        </p:nvSpPr>
        <p:spPr>
          <a:xfrm>
            <a:off x="1645920" y="5029200"/>
            <a:ext cx="9144000" cy="457200"/>
          </a:xfrm>
          <a:prstGeom prst="rect">
            <a:avLst/>
          </a:prstGeom>
          <a:noFill/>
        </p:spPr>
        <p:txBody>
          <a:bodyPr wrap="square">
            <a:spAutoFit/>
          </a:bodyPr>
          <a:lstStyle/>
          <a:p>
            <a:pPr algn="l">
              <a:defRPr sz="1200" b="0">
                <a:solidFill>
                  <a:srgbClr val="8888AA"/>
                </a:solidFill>
                <a:latin typeface="Calibri"/>
              </a:defRPr>
            </a:pPr>
            <a:r>
              <a:t>Full AI suite deployed. WhatsApp CRM live. Dynamic pricing activated. Rollout across all stores.</a:t>
            </a:r>
          </a:p>
        </p:txBody>
      </p:sp>
      <p:sp>
        <p:nvSpPr>
          <p:cNvPr id="19" name="Rounded Rectangle 18"/>
          <p:cNvSpPr/>
          <p:nvPr/>
        </p:nvSpPr>
        <p:spPr>
          <a:xfrm>
            <a:off x="731520" y="5852160"/>
            <a:ext cx="3383280" cy="73152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897880"/>
            <a:ext cx="3383280" cy="320040"/>
          </a:xfrm>
          <a:prstGeom prst="rect">
            <a:avLst/>
          </a:prstGeom>
          <a:noFill/>
        </p:spPr>
        <p:txBody>
          <a:bodyPr wrap="square">
            <a:spAutoFit/>
          </a:bodyPr>
          <a:lstStyle/>
          <a:p>
            <a:pPr algn="ctr">
              <a:defRPr sz="1400" b="1">
                <a:solidFill>
                  <a:srgbClr val="FFFFFF"/>
                </a:solidFill>
                <a:latin typeface="Calibri"/>
              </a:defRPr>
            </a:pPr>
            <a:r>
              <a:t>Dedicated Team</a:t>
            </a:r>
          </a:p>
        </p:txBody>
      </p:sp>
      <p:sp>
        <p:nvSpPr>
          <p:cNvPr id="21" name="TextBox 20"/>
          <p:cNvSpPr txBox="1"/>
          <p:nvPr/>
        </p:nvSpPr>
        <p:spPr>
          <a:xfrm>
            <a:off x="731520" y="6172200"/>
            <a:ext cx="3383280" cy="274320"/>
          </a:xfrm>
          <a:prstGeom prst="rect">
            <a:avLst/>
          </a:prstGeom>
          <a:noFill/>
        </p:spPr>
        <p:txBody>
          <a:bodyPr wrap="square">
            <a:spAutoFit/>
          </a:bodyPr>
          <a:lstStyle/>
          <a:p>
            <a:pPr algn="ctr">
              <a:defRPr sz="1100" b="0">
                <a:solidFill>
                  <a:srgbClr val="8888AA"/>
                </a:solidFill>
                <a:latin typeface="Calibri"/>
              </a:defRPr>
            </a:pPr>
            <a:r>
              <a:t>Not a self-serve setup</a:t>
            </a:r>
          </a:p>
        </p:txBody>
      </p:sp>
      <p:sp>
        <p:nvSpPr>
          <p:cNvPr id="22" name="Rounded Rectangle 21"/>
          <p:cNvSpPr/>
          <p:nvPr/>
        </p:nvSpPr>
        <p:spPr>
          <a:xfrm>
            <a:off x="4480559" y="5852160"/>
            <a:ext cx="3383280" cy="73152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59" y="5897880"/>
            <a:ext cx="3383280" cy="320040"/>
          </a:xfrm>
          <a:prstGeom prst="rect">
            <a:avLst/>
          </a:prstGeom>
          <a:noFill/>
        </p:spPr>
        <p:txBody>
          <a:bodyPr wrap="square">
            <a:spAutoFit/>
          </a:bodyPr>
          <a:lstStyle/>
          <a:p>
            <a:pPr algn="ctr">
              <a:defRPr sz="1400" b="1">
                <a:solidFill>
                  <a:srgbClr val="FFFFFF"/>
                </a:solidFill>
                <a:latin typeface="Calibri"/>
              </a:defRPr>
            </a:pPr>
            <a:r>
              <a:t>Parallel Running</a:t>
            </a:r>
          </a:p>
        </p:txBody>
      </p:sp>
      <p:sp>
        <p:nvSpPr>
          <p:cNvPr id="24" name="TextBox 23"/>
          <p:cNvSpPr txBox="1"/>
          <p:nvPr/>
        </p:nvSpPr>
        <p:spPr>
          <a:xfrm>
            <a:off x="4480559" y="6172200"/>
            <a:ext cx="3383280" cy="274320"/>
          </a:xfrm>
          <a:prstGeom prst="rect">
            <a:avLst/>
          </a:prstGeom>
          <a:noFill/>
        </p:spPr>
        <p:txBody>
          <a:bodyPr wrap="square">
            <a:spAutoFit/>
          </a:bodyPr>
          <a:lstStyle/>
          <a:p>
            <a:pPr algn="ctr">
              <a:defRPr sz="1100" b="0">
                <a:solidFill>
                  <a:srgbClr val="8888AA"/>
                </a:solidFill>
                <a:latin typeface="Calibri"/>
              </a:defRPr>
            </a:pPr>
            <a:r>
              <a:t>Zero disruption to operations</a:t>
            </a:r>
          </a:p>
        </p:txBody>
      </p:sp>
      <p:sp>
        <p:nvSpPr>
          <p:cNvPr id="25" name="Rounded Rectangle 24"/>
          <p:cNvSpPr/>
          <p:nvPr/>
        </p:nvSpPr>
        <p:spPr>
          <a:xfrm>
            <a:off x="8229600" y="5852160"/>
            <a:ext cx="3383280" cy="731520"/>
          </a:xfrm>
          <a:prstGeom prst="roundRect">
            <a:avLst/>
          </a:prstGeom>
          <a:solidFill>
            <a:srgbClr val="16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5897880"/>
            <a:ext cx="3383280" cy="320040"/>
          </a:xfrm>
          <a:prstGeom prst="rect">
            <a:avLst/>
          </a:prstGeom>
          <a:noFill/>
        </p:spPr>
        <p:txBody>
          <a:bodyPr wrap="square">
            <a:spAutoFit/>
          </a:bodyPr>
          <a:lstStyle/>
          <a:p>
            <a:pPr algn="ctr">
              <a:defRPr sz="1400" b="1">
                <a:solidFill>
                  <a:srgbClr val="FFFFFF"/>
                </a:solidFill>
                <a:latin typeface="Calibri"/>
              </a:defRPr>
            </a:pPr>
            <a:r>
              <a:t>Franchise Playbook</a:t>
            </a:r>
          </a:p>
        </p:txBody>
      </p:sp>
      <p:sp>
        <p:nvSpPr>
          <p:cNvPr id="27" name="TextBox 26"/>
          <p:cNvSpPr txBox="1"/>
          <p:nvPr/>
        </p:nvSpPr>
        <p:spPr>
          <a:xfrm>
            <a:off x="8229600" y="6172200"/>
            <a:ext cx="3383280" cy="274320"/>
          </a:xfrm>
          <a:prstGeom prst="rect">
            <a:avLst/>
          </a:prstGeom>
          <a:noFill/>
        </p:spPr>
        <p:txBody>
          <a:bodyPr wrap="square">
            <a:spAutoFit/>
          </a:bodyPr>
          <a:lstStyle/>
          <a:p>
            <a:pPr algn="ctr">
              <a:defRPr sz="1100" b="0">
                <a:solidFill>
                  <a:srgbClr val="8888AA"/>
                </a:solidFill>
                <a:latin typeface="Calibri"/>
              </a:defRPr>
            </a:pPr>
            <a:r>
              <a:t>Onboarding guide included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00D4AA"/>
                </a:solidFill>
                <a:latin typeface="Calibri"/>
              </a:defRPr>
            </a:pPr>
            <a:r>
              <a:t>WHY US, WHY NOW</a:t>
            </a:r>
          </a:p>
        </p:txBody>
      </p:sp>
      <p:sp>
        <p:nvSpPr>
          <p:cNvPr id="3" name="TextBox 2"/>
          <p:cNvSpPr txBox="1"/>
          <p:nvPr/>
        </p:nvSpPr>
        <p:spPr>
          <a:xfrm>
            <a:off x="731520" y="914400"/>
            <a:ext cx="10058400" cy="731520"/>
          </a:xfrm>
          <a:prstGeom prst="rect">
            <a:avLst/>
          </a:prstGeom>
          <a:noFill/>
        </p:spPr>
        <p:txBody>
          <a:bodyPr wrap="square">
            <a:spAutoFit/>
          </a:bodyPr>
          <a:lstStyle/>
          <a:p>
            <a:pPr algn="l">
              <a:defRPr sz="4000" b="1">
                <a:solidFill>
                  <a:srgbClr val="FFFFFF"/>
                </a:solidFill>
                <a:latin typeface="Calibri"/>
              </a:defRPr>
            </a:pPr>
            <a:r>
              <a:t>Built for This Moment</a:t>
            </a:r>
          </a:p>
        </p:txBody>
      </p:sp>
      <p:sp>
        <p:nvSpPr>
          <p:cNvPr id="4" name="Rounded Rectangle 3"/>
          <p:cNvSpPr/>
          <p:nvPr/>
        </p:nvSpPr>
        <p:spPr>
          <a:xfrm>
            <a:off x="731520" y="1920240"/>
            <a:ext cx="5303520" cy="1280160"/>
          </a:xfrm>
          <a:prstGeom prst="roundRect">
            <a:avLst/>
          </a:prstGeom>
          <a:solidFill>
            <a:srgbClr val="161622"/>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57400"/>
            <a:ext cx="4572000" cy="320040"/>
          </a:xfrm>
          <a:prstGeom prst="rect">
            <a:avLst/>
          </a:prstGeom>
          <a:noFill/>
        </p:spPr>
        <p:txBody>
          <a:bodyPr wrap="square">
            <a:spAutoFit/>
          </a:bodyPr>
          <a:lstStyle/>
          <a:p>
            <a:pPr algn="l">
              <a:defRPr sz="1800" b="1">
                <a:solidFill>
                  <a:srgbClr val="6C63FF"/>
                </a:solidFill>
                <a:latin typeface="Calibri"/>
              </a:defRPr>
            </a:pPr>
            <a:r>
              <a:t>Retail-Native</a:t>
            </a:r>
          </a:p>
        </p:txBody>
      </p:sp>
      <p:sp>
        <p:nvSpPr>
          <p:cNvPr id="6" name="TextBox 5"/>
          <p:cNvSpPr txBox="1"/>
          <p:nvPr/>
        </p:nvSpPr>
        <p:spPr>
          <a:xfrm>
            <a:off x="1005840" y="2423160"/>
            <a:ext cx="4754880" cy="640080"/>
          </a:xfrm>
          <a:prstGeom prst="rect">
            <a:avLst/>
          </a:prstGeom>
          <a:noFill/>
        </p:spPr>
        <p:txBody>
          <a:bodyPr wrap="square">
            <a:spAutoFit/>
          </a:bodyPr>
          <a:lstStyle/>
          <a:p>
            <a:pPr algn="l">
              <a:defRPr sz="1200" b="0">
                <a:solidFill>
                  <a:srgbClr val="8888AA"/>
                </a:solidFill>
                <a:latin typeface="Calibri"/>
              </a:defRPr>
            </a:pPr>
            <a:r>
              <a:t>Built exclusively for retail. Not horizontal SaaS adapted — retail-native, retail-only. We understand the floor.</a:t>
            </a:r>
          </a:p>
        </p:txBody>
      </p:sp>
      <p:sp>
        <p:nvSpPr>
          <p:cNvPr id="7" name="Rounded Rectangle 6"/>
          <p:cNvSpPr/>
          <p:nvPr/>
        </p:nvSpPr>
        <p:spPr>
          <a:xfrm>
            <a:off x="6400800" y="1920240"/>
            <a:ext cx="5303520" cy="1280160"/>
          </a:xfrm>
          <a:prstGeom prst="roundRect">
            <a:avLst/>
          </a:prstGeom>
          <a:solidFill>
            <a:srgbClr val="161622"/>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57400"/>
            <a:ext cx="4572000" cy="320040"/>
          </a:xfrm>
          <a:prstGeom prst="rect">
            <a:avLst/>
          </a:prstGeom>
          <a:noFill/>
        </p:spPr>
        <p:txBody>
          <a:bodyPr wrap="square">
            <a:spAutoFit/>
          </a:bodyPr>
          <a:lstStyle/>
          <a:p>
            <a:pPr algn="l">
              <a:defRPr sz="1800" b="1">
                <a:solidFill>
                  <a:srgbClr val="00D4AA"/>
                </a:solidFill>
                <a:latin typeface="Calibri"/>
              </a:defRPr>
            </a:pPr>
            <a:r>
              <a:t>India-First</a:t>
            </a:r>
          </a:p>
        </p:txBody>
      </p:sp>
      <p:sp>
        <p:nvSpPr>
          <p:cNvPr id="9" name="TextBox 8"/>
          <p:cNvSpPr txBox="1"/>
          <p:nvPr/>
        </p:nvSpPr>
        <p:spPr>
          <a:xfrm>
            <a:off x="6675120" y="2423160"/>
            <a:ext cx="4754880" cy="640080"/>
          </a:xfrm>
          <a:prstGeom prst="rect">
            <a:avLst/>
          </a:prstGeom>
          <a:noFill/>
        </p:spPr>
        <p:txBody>
          <a:bodyPr wrap="square">
            <a:spAutoFit/>
          </a:bodyPr>
          <a:lstStyle/>
          <a:p>
            <a:pPr algn="l">
              <a:defRPr sz="1200" b="0">
                <a:solidFill>
                  <a:srgbClr val="8888AA"/>
                </a:solidFill>
                <a:latin typeface="Calibri"/>
              </a:defRPr>
            </a:pPr>
            <a:r>
              <a:t>GST complexity, UPI payments, Hindi &amp; regional language support, offline-first architecture, WhatsApp integration.</a:t>
            </a:r>
          </a:p>
        </p:txBody>
      </p:sp>
      <p:sp>
        <p:nvSpPr>
          <p:cNvPr id="10" name="Rounded Rectangle 9"/>
          <p:cNvSpPr/>
          <p:nvPr/>
        </p:nvSpPr>
        <p:spPr>
          <a:xfrm>
            <a:off x="731520" y="3383280"/>
            <a:ext cx="5303520" cy="1280160"/>
          </a:xfrm>
          <a:prstGeom prst="roundRect">
            <a:avLst/>
          </a:prstGeom>
          <a:solidFill>
            <a:srgbClr val="161622"/>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20440"/>
            <a:ext cx="4572000" cy="320040"/>
          </a:xfrm>
          <a:prstGeom prst="rect">
            <a:avLst/>
          </a:prstGeom>
          <a:noFill/>
        </p:spPr>
        <p:txBody>
          <a:bodyPr wrap="square">
            <a:spAutoFit/>
          </a:bodyPr>
          <a:lstStyle/>
          <a:p>
            <a:pPr algn="l">
              <a:defRPr sz="1800" b="1">
                <a:solidFill>
                  <a:srgbClr val="F5A623"/>
                </a:solidFill>
                <a:latin typeface="Calibri"/>
              </a:defRPr>
            </a:pPr>
            <a:r>
              <a:t>AI-Native</a:t>
            </a:r>
          </a:p>
        </p:txBody>
      </p:sp>
      <p:sp>
        <p:nvSpPr>
          <p:cNvPr id="12" name="TextBox 11"/>
          <p:cNvSpPr txBox="1"/>
          <p:nvPr/>
        </p:nvSpPr>
        <p:spPr>
          <a:xfrm>
            <a:off x="1005840" y="3886200"/>
            <a:ext cx="4754880" cy="640080"/>
          </a:xfrm>
          <a:prstGeom prst="rect">
            <a:avLst/>
          </a:prstGeom>
          <a:noFill/>
        </p:spPr>
        <p:txBody>
          <a:bodyPr wrap="square">
            <a:spAutoFit/>
          </a:bodyPr>
          <a:lstStyle/>
          <a:p>
            <a:pPr algn="l">
              <a:defRPr sz="1200" b="0">
                <a:solidFill>
                  <a:srgbClr val="8888AA"/>
                </a:solidFill>
                <a:latin typeface="Calibri"/>
              </a:defRPr>
            </a:pPr>
            <a:r>
              <a:t>AI is not a feature we bolted on. It is the architecture. Every module generates data, every data point trains the AI.</a:t>
            </a:r>
          </a:p>
        </p:txBody>
      </p:sp>
      <p:sp>
        <p:nvSpPr>
          <p:cNvPr id="13" name="Rounded Rectangle 12"/>
          <p:cNvSpPr/>
          <p:nvPr/>
        </p:nvSpPr>
        <p:spPr>
          <a:xfrm>
            <a:off x="6400800" y="3383280"/>
            <a:ext cx="5303520" cy="1280160"/>
          </a:xfrm>
          <a:prstGeom prst="roundRect">
            <a:avLst/>
          </a:prstGeom>
          <a:solidFill>
            <a:srgbClr val="161622"/>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3520440"/>
            <a:ext cx="4572000" cy="320040"/>
          </a:xfrm>
          <a:prstGeom prst="rect">
            <a:avLst/>
          </a:prstGeom>
          <a:noFill/>
        </p:spPr>
        <p:txBody>
          <a:bodyPr wrap="square">
            <a:spAutoFit/>
          </a:bodyPr>
          <a:lstStyle/>
          <a:p>
            <a:pPr algn="l">
              <a:defRPr sz="1800" b="1">
                <a:solidFill>
                  <a:srgbClr val="FF6B6B"/>
                </a:solidFill>
                <a:latin typeface="Calibri"/>
              </a:defRPr>
            </a:pPr>
            <a:r>
              <a:t>Scale-Ready</a:t>
            </a:r>
          </a:p>
        </p:txBody>
      </p:sp>
      <p:sp>
        <p:nvSpPr>
          <p:cNvPr id="15" name="TextBox 14"/>
          <p:cNvSpPr txBox="1"/>
          <p:nvPr/>
        </p:nvSpPr>
        <p:spPr>
          <a:xfrm>
            <a:off x="6675120" y="3886200"/>
            <a:ext cx="4754880" cy="640080"/>
          </a:xfrm>
          <a:prstGeom prst="rect">
            <a:avLst/>
          </a:prstGeom>
          <a:noFill/>
        </p:spPr>
        <p:txBody>
          <a:bodyPr wrap="square">
            <a:spAutoFit/>
          </a:bodyPr>
          <a:lstStyle/>
          <a:p>
            <a:pPr algn="l">
              <a:defRPr sz="1200" b="0">
                <a:solidFill>
                  <a:srgbClr val="8888AA"/>
                </a:solidFill>
                <a:latin typeface="Calibri"/>
              </a:defRPr>
            </a:pPr>
            <a:r>
              <a:t>Designed for 100+ store chains. Multi-format, multi-channel, franchise-ready. Scales from pilot to national.</a:t>
            </a:r>
          </a:p>
        </p:txBody>
      </p:sp>
      <p:sp>
        <p:nvSpPr>
          <p:cNvPr id="16" name="Rounded Rectangle 15"/>
          <p:cNvSpPr/>
          <p:nvPr/>
        </p:nvSpPr>
        <p:spPr>
          <a:xfrm>
            <a:off x="2286000" y="5029200"/>
            <a:ext cx="7589520" cy="1463040"/>
          </a:xfrm>
          <a:prstGeom prst="roundRect">
            <a:avLst/>
          </a:prstGeom>
          <a:solidFill>
            <a:srgbClr val="141228"/>
          </a:solidFill>
          <a:ln w="19050">
            <a:solidFill>
              <a:srgbClr val="6C6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5120640"/>
            <a:ext cx="7589520" cy="457200"/>
          </a:xfrm>
          <a:prstGeom prst="rect">
            <a:avLst/>
          </a:prstGeom>
          <a:noFill/>
        </p:spPr>
        <p:txBody>
          <a:bodyPr wrap="square">
            <a:spAutoFit/>
          </a:bodyPr>
          <a:lstStyle/>
          <a:p>
            <a:pPr algn="ctr">
              <a:defRPr sz="2600" b="1">
                <a:solidFill>
                  <a:srgbClr val="FFFFFF"/>
                </a:solidFill>
                <a:latin typeface="Calibri"/>
              </a:defRPr>
            </a:pPr>
            <a:r>
              <a:t>Let's Start With a Pilot</a:t>
            </a:r>
          </a:p>
        </p:txBody>
      </p:sp>
      <p:sp>
        <p:nvSpPr>
          <p:cNvPr id="18" name="TextBox 17"/>
          <p:cNvSpPr txBox="1"/>
          <p:nvPr/>
        </p:nvSpPr>
        <p:spPr>
          <a:xfrm>
            <a:off x="2286000" y="5577840"/>
            <a:ext cx="7589520" cy="320040"/>
          </a:xfrm>
          <a:prstGeom prst="rect">
            <a:avLst/>
          </a:prstGeom>
          <a:noFill/>
        </p:spPr>
        <p:txBody>
          <a:bodyPr wrap="square">
            <a:spAutoFit/>
          </a:bodyPr>
          <a:lstStyle/>
          <a:p>
            <a:pPr algn="ctr">
              <a:defRPr sz="1600" b="0">
                <a:solidFill>
                  <a:srgbClr val="8888AA"/>
                </a:solidFill>
                <a:latin typeface="Calibri"/>
              </a:defRPr>
            </a:pPr>
            <a:r>
              <a:t>10-15 stores  ·  8 weeks  ·  Let the results speak</a:t>
            </a:r>
          </a:p>
        </p:txBody>
      </p:sp>
      <p:sp>
        <p:nvSpPr>
          <p:cNvPr id="19" name="TextBox 18"/>
          <p:cNvSpPr txBox="1"/>
          <p:nvPr/>
        </p:nvSpPr>
        <p:spPr>
          <a:xfrm>
            <a:off x="2286000" y="6035040"/>
            <a:ext cx="7589520" cy="320040"/>
          </a:xfrm>
          <a:prstGeom prst="rect">
            <a:avLst/>
          </a:prstGeom>
          <a:noFill/>
        </p:spPr>
        <p:txBody>
          <a:bodyPr wrap="square">
            <a:spAutoFit/>
          </a:bodyPr>
          <a:lstStyle/>
          <a:p>
            <a:pPr algn="ctr">
              <a:defRPr sz="1400" b="0">
                <a:solidFill>
                  <a:srgbClr val="555577"/>
                </a:solidFill>
                <a:latin typeface="Calibri"/>
              </a:defRPr>
            </a:pPr>
            <a:r>
              <a:t>BETTROI  |  hello@bettroi.com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